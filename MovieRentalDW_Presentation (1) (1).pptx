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5501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(Title):
Introduce yourself and your team. Say something like: "Today we will present our final project for Database Systems. The topic is building a Data Warehouse for a Movie Rental system. We started with an operational database similar to Sakila, designed a dimensional data model, performed ETL, and built an analytical dashboard." Keep it brief — about 30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(Objective):
Say: "The OLTP database, which in our case is based on Sakila, is great for daily operations — recording rentals, payments, and customer data. But it is not efficient when we want to answer business questions like 'what is our best-selling movie category?' or 'how did revenue change over the last year?' That is exactly why we built a Data Warehouse — to convert operational data into analytical insights."
Possible instructor question: "Why can't you just run analytical queries on the OLTP database?"
Answer: "You can run some queries, but OLTP databases are normalized for fast inserts and updates, not for complex aggregations. Running heavy analytical queries would slow down the operational system, and the data model is not designed for easy reporting."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(OLTP vs DW):
Walk through the table row by row. Highlight key differences: "Notice that the OLTP uses normalized tables to avoid data duplication, while our Data Warehouse uses a dimensional model — specifically a Star Schema — which is easier for reporting." Also emphasize: "OLTP focuses on the present moment, while the DW stores historical data so we can see trends."
Possible instructor question: "What is normalization and why don't we use it in the DW?"
Answer: "Normalization is splitting data into many related tables to reduce redundancy. It is great for avoiding anomalies in OLTP. But in a Data Warehouse, we deliberately denormalize to reduce joins and make queries faster."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(Business Questions):
Say: "Before designing the data warehouse, we identified the key business questions it needs to answer. These are the questions that managers at a movie rental company would want to ask." Go through each card briefly. Then say: "These questions guided all our design decisions — which fact tables we need, which dimensions to include, and what measures to store."
Possible instructor question: "How did business requirements influence your design?"
Answer: "Each question maps to specific dimensions and measures. For example, 'revenue over time' requires a Date dimension and a revenue measure in the fact table. 'Store performance' requires a Store dimension."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(Dimensional Model):
Say: "This is our actual dimensional model. It is a Hybrid Star/Snowflake Schema. At the center we have two fact tables — fact_rental and fact_payment. Around them are dimension tables that provide context."
Point to the diagram: "The core dimensions are dim_date, dim_customer, dim_film, dim_store, and dim_staff. We also have sub-dimensions: dim_category and dim_language extend dim_film, and dim_location extends dim_store — this is the snowflake part. We also have a bridge table, bridge_film_actor, to handle the many-to-many relationship between films and actors."
Then explain grain: "The grain of fact_rental is one row per rental. The grain of fact_payment is one row per payment."
Possible instructor question: "What is the grain and why is it important?"
Answer: "The grain defines the level of detail in the fact table. Choosing the wrong grain causes wrong aggregations. We chose one row per rental/payment because it is the most atomic event in the system."
Possible question: "You said hybrid schema — what does that mean?"
Answer: "A pure star schema has all dimensions directly connected to the fact table with no further normalization. A snowflake further normalizes some dimensions. Ours is hybrid because most dimensions are flat (star), but dim_film connects to dim_category and dim_language, and dim_store connects to dim_location — those are the snowflake branches."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(ETL):
Say: "ETL stands for Extract, Transform, Load — the process of moving data from the OLTP database into the Data Warehouse."
Explain each stage: "First we Extract by reading from the OLTP tables without changing anything. Then we Transform: we clean the data, handle missing values, join tables together, and create surrogate keys. Finally we Load the results into our dimension tables and fact table."
Possible instructor question: "What is a surrogate key and why do you need it?"
Answer: "A surrogate key is an artificial numeric key we assign in the Data Warehouse — like customer_key = 1, 2, 3... instead of using the original OLTP primary key. This protects the DW from changes in the OLTP system and allows us to track historical changes."
Possible question: "What order do you load the tables?"
Answer: "Dimensions must be loaded before the fact table because the fact table references dimension keys as foreign keys."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(Dashboard):
Say: "These are actual screenshots from our working dashboard, connected live to our Data Warehouse database called movie_rental_dw."
Walk through the KPIs: "The warehouse contains data on $67,406 in total revenue, 16,044 rentals, 599 customers, 1,000 films across 2 stores managed by 2 staff."
Point to the charts: "On the left we have the top rented films — Bucket Brotherhood leads. On the right we see revenue by category — Sports generates the highest revenue, followed by Sci-Fi."
Then say: "All of these numbers come directly from SQL queries on the fact and dimension tables in the warehouse."
Possible instructor question: "What technology did you use for the dashboard?"
Answer: "We built a web-based dashboard that connects to our PostgreSQL/MySQL Data Warehouse using [your actual tech]. The charts are generated by querying the fact and dimension tables using GROUP BY aggregations."
Possible question: "What is the most interesting insight from your data?"
Answer: "Sports has the highest revenue despite not being the most obvious category — this kind of unexpected insight is exactly what a Data Warehouse helps you discover."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8 (Results):
Say: "After building the Data Warehouse and connecting the dashboard, we are able to provide real business insights. For example, we can see which movie categories generate the most revenue, which customers are the most loyal, how each store is performing, and whether revenue is growing or declining over time."
Then say: "All of this was impossible to get efficiently from the OLTP database alone."
Possible instructor question: "What is the most valuable insight your DW provides?"
Answer: "We believe identifying top-performing movies and categories is most valuable, because this directly helps managers decide which films to stock more of."</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9 (Challenges):
Be honest and specific here. Say: "Like any real project, we faced several challenges." Go through each one briefly. The most important ones to explain well are the grain challenge and the ETL challenge.
Possible instructor question: "What was your biggest technical challenge?"
Answer: "The ETL transformations were the hardest part. We had to carefully join the rental, payment, film, and customer tables in the right order, generate surrogate keys correctly, and handle cases where payments were missing or rentals had no return date."
Possible question: "Did you face any data quality issues?"
Answer: "Yes — the Sakila database has a few rental records without return dates, and we had to decide whether to exclude them or set a default return date. We chose to exclude incomplete records from the fact table."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10 (Conclusion):
Say: "To summarize — we started with a normalized OLTP database based on Sakila, analyzed the schema, designed a Star Schema dimensional model, implemented ETL to populate the warehouse, and built a dashboard to visualize the results. This complete BI pipeline allows business managers to make better data-driven decisions."
End with: "We are now ready for your questions."
Possible instructor question: "If you had more time, how would you improve the project?"
Answer: "We would implement Slowly Changing Dimensions to track historical changes in customer or film data. We would also add more KPIs, optimize ETL performance using incremental loading, and add user authentication to the dashboard."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4.png"/><Relationship Id="rId4" Type="http://schemas.openxmlformats.org/officeDocument/2006/relationships/image" Target="../media/image8.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1.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F5E"/>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3A7BD5"/>
          </a:solidFill>
          <a:ln/>
        </p:spPr>
      </p:sp>
      <p:sp>
        <p:nvSpPr>
          <p:cNvPr id="3" name="Shape 1"/>
          <p:cNvSpPr/>
          <p:nvPr/>
        </p:nvSpPr>
        <p:spPr>
          <a:xfrm>
            <a:off x="7315200" y="-640080"/>
            <a:ext cx="2560320" cy="2560320"/>
          </a:xfrm>
          <a:prstGeom prst="ellipse">
            <a:avLst/>
          </a:prstGeom>
          <a:solidFill>
            <a:srgbClr val="2356A8"/>
          </a:solidFill>
          <a:ln/>
        </p:spPr>
      </p:sp>
      <p:sp>
        <p:nvSpPr>
          <p:cNvPr id="4" name="Shape 2"/>
          <p:cNvSpPr/>
          <p:nvPr/>
        </p:nvSpPr>
        <p:spPr>
          <a:xfrm>
            <a:off x="7863840" y="-182880"/>
            <a:ext cx="1645920" cy="1645920"/>
          </a:xfrm>
          <a:prstGeom prst="ellipse">
            <a:avLst/>
          </a:prstGeom>
          <a:solidFill>
            <a:srgbClr val="3A7BD5"/>
          </a:solidFill>
          <a:ln/>
        </p:spPr>
      </p:sp>
      <p:sp>
        <p:nvSpPr>
          <p:cNvPr id="5" name="Shape 3"/>
          <p:cNvSpPr/>
          <p:nvPr/>
        </p:nvSpPr>
        <p:spPr>
          <a:xfrm>
            <a:off x="7772400" y="4114800"/>
            <a:ext cx="1828800" cy="1828800"/>
          </a:xfrm>
          <a:prstGeom prst="ellipse">
            <a:avLst/>
          </a:prstGeom>
          <a:solidFill>
            <a:srgbClr val="2356A8"/>
          </a:solidFill>
          <a:ln/>
        </p:spPr>
      </p:sp>
      <p:sp>
        <p:nvSpPr>
          <p:cNvPr id="6" name="Shape 4"/>
          <p:cNvSpPr/>
          <p:nvPr/>
        </p:nvSpPr>
        <p:spPr>
          <a:xfrm>
            <a:off x="502920" y="411480"/>
            <a:ext cx="2560320" cy="310896"/>
          </a:xfrm>
          <a:prstGeom prst="rect">
            <a:avLst/>
          </a:prstGeom>
          <a:solidFill>
            <a:srgbClr val="3A7BD5"/>
          </a:solidFill>
          <a:ln/>
        </p:spPr>
      </p:sp>
      <p:sp>
        <p:nvSpPr>
          <p:cNvPr id="7" name="Text 5"/>
          <p:cNvSpPr/>
          <p:nvPr/>
        </p:nvSpPr>
        <p:spPr>
          <a:xfrm>
            <a:off x="502920" y="411480"/>
            <a:ext cx="2560320" cy="31089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DATABASE SYSTEMS · FINAL PROJECT</a:t>
            </a:r>
            <a:endParaRPr lang="en-US" sz="750" dirty="0"/>
          </a:p>
        </p:txBody>
      </p:sp>
      <p:sp>
        <p:nvSpPr>
          <p:cNvPr id="8" name="Text 6"/>
          <p:cNvSpPr/>
          <p:nvPr/>
        </p:nvSpPr>
        <p:spPr>
          <a:xfrm>
            <a:off x="502920" y="914400"/>
            <a:ext cx="7132320" cy="77724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Movie Rental</a:t>
            </a:r>
            <a:endParaRPr lang="en-US" sz="4800" dirty="0"/>
          </a:p>
        </p:txBody>
      </p:sp>
      <p:sp>
        <p:nvSpPr>
          <p:cNvPr id="9" name="Text 7"/>
          <p:cNvSpPr/>
          <p:nvPr/>
        </p:nvSpPr>
        <p:spPr>
          <a:xfrm>
            <a:off x="502920" y="1691640"/>
            <a:ext cx="7132320" cy="640080"/>
          </a:xfrm>
          <a:prstGeom prst="rect">
            <a:avLst/>
          </a:prstGeom>
          <a:noFill/>
          <a:ln/>
        </p:spPr>
        <p:txBody>
          <a:bodyPr wrap="square" lIns="0" tIns="0" rIns="0" bIns="0" rtlCol="0" anchor="ctr"/>
          <a:lstStyle/>
          <a:p>
            <a:pPr marL="0" indent="0">
              <a:buNone/>
            </a:pPr>
            <a:r>
              <a:rPr lang="en-US" sz="3600" dirty="0">
                <a:solidFill>
                  <a:srgbClr val="C9DEFF"/>
                </a:solidFill>
                <a:latin typeface="Calibri" pitchFamily="34" charset="0"/>
                <a:ea typeface="Calibri" pitchFamily="34" charset="-122"/>
                <a:cs typeface="Calibri" pitchFamily="34" charset="-120"/>
              </a:rPr>
              <a:t>Data Warehouse Project</a:t>
            </a:r>
            <a:endParaRPr lang="en-US" sz="3600" dirty="0"/>
          </a:p>
        </p:txBody>
      </p:sp>
      <p:sp>
        <p:nvSpPr>
          <p:cNvPr id="10" name="Text 8"/>
          <p:cNvSpPr/>
          <p:nvPr/>
        </p:nvSpPr>
        <p:spPr>
          <a:xfrm>
            <a:off x="502920" y="2423160"/>
            <a:ext cx="6858000" cy="365760"/>
          </a:xfrm>
          <a:prstGeom prst="rect">
            <a:avLst/>
          </a:prstGeom>
          <a:noFill/>
          <a:ln/>
        </p:spPr>
        <p:txBody>
          <a:bodyPr wrap="square" lIns="0" tIns="0" rIns="0" bIns="0" rtlCol="0" anchor="ctr"/>
          <a:lstStyle/>
          <a:p>
            <a:pPr marL="0" indent="0">
              <a:buNone/>
            </a:pPr>
            <a:r>
              <a:rPr lang="en-US" sz="1500" i="1" dirty="0">
                <a:solidFill>
                  <a:srgbClr val="A8C4EF"/>
                </a:solidFill>
                <a:latin typeface="Calibri" pitchFamily="34" charset="0"/>
                <a:ea typeface="Calibri" pitchFamily="34" charset="-122"/>
                <a:cs typeface="Calibri" pitchFamily="34" charset="-120"/>
              </a:rPr>
              <a:t>From OLTP Database to Analytical Dashboard</a:t>
            </a:r>
            <a:endParaRPr lang="en-US" sz="1500" dirty="0"/>
          </a:p>
        </p:txBody>
      </p:sp>
      <p:sp>
        <p:nvSpPr>
          <p:cNvPr id="11" name="Shape 9"/>
          <p:cNvSpPr/>
          <p:nvPr/>
        </p:nvSpPr>
        <p:spPr>
          <a:xfrm>
            <a:off x="502920" y="2880360"/>
            <a:ext cx="4114800" cy="22860"/>
          </a:xfrm>
          <a:prstGeom prst="rect">
            <a:avLst/>
          </a:prstGeom>
          <a:solidFill>
            <a:srgbClr val="3A7BD5"/>
          </a:solidFill>
          <a:ln/>
        </p:spPr>
      </p:sp>
      <p:sp>
        <p:nvSpPr>
          <p:cNvPr id="12" name="Text 10"/>
          <p:cNvSpPr/>
          <p:nvPr/>
        </p:nvSpPr>
        <p:spPr>
          <a:xfrm>
            <a:off x="502920" y="2999232"/>
            <a:ext cx="1005840" cy="320040"/>
          </a:xfrm>
          <a:prstGeom prst="rect">
            <a:avLst/>
          </a:prstGeom>
          <a:noFill/>
          <a:ln/>
        </p:spPr>
        <p:txBody>
          <a:bodyPr wrap="square" lIns="0" tIns="0" rIns="0" bIns="0" rtlCol="0" anchor="ctr"/>
          <a:lstStyle/>
          <a:p>
            <a:pPr marL="0" indent="0">
              <a:buNone/>
            </a:pPr>
            <a:r>
              <a:rPr lang="en-US" sz="1000" b="1" dirty="0">
                <a:solidFill>
                  <a:srgbClr val="C9DEFF"/>
                </a:solidFill>
                <a:latin typeface="Calibri" pitchFamily="34" charset="0"/>
                <a:ea typeface="Calibri" pitchFamily="34" charset="-122"/>
                <a:cs typeface="Calibri" pitchFamily="34" charset="-120"/>
              </a:rPr>
              <a:t>Team:</a:t>
            </a:r>
            <a:endParaRPr lang="en-US" sz="1000" dirty="0"/>
          </a:p>
        </p:txBody>
      </p:sp>
      <p:sp>
        <p:nvSpPr>
          <p:cNvPr id="13" name="Text 11"/>
          <p:cNvSpPr/>
          <p:nvPr/>
        </p:nvSpPr>
        <p:spPr>
          <a:xfrm>
            <a:off x="1554480" y="2999232"/>
            <a:ext cx="5029200" cy="32004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Abd Al-Rahman </a:t>
            </a:r>
            <a:r>
              <a:rPr lang="en-US" sz="1000" dirty="0" err="1">
                <a:solidFill>
                  <a:srgbClr val="FFFFFF"/>
                </a:solidFill>
                <a:latin typeface="Calibri" pitchFamily="34" charset="0"/>
                <a:ea typeface="Calibri" pitchFamily="34" charset="-122"/>
                <a:cs typeface="Calibri" pitchFamily="34" charset="-120"/>
              </a:rPr>
              <a:t>remawi</a:t>
            </a:r>
            <a:r>
              <a:rPr lang="en-US" sz="1000" dirty="0">
                <a:solidFill>
                  <a:srgbClr val="FFFFFF"/>
                </a:solidFill>
                <a:latin typeface="Calibri" pitchFamily="34" charset="0"/>
                <a:ea typeface="Calibri" pitchFamily="34" charset="-122"/>
                <a:cs typeface="Calibri" pitchFamily="34" charset="-120"/>
              </a:rPr>
              <a:t> · Islam Sead Aldeen</a:t>
            </a:r>
            <a:endParaRPr lang="en-US" sz="1000" dirty="0"/>
          </a:p>
        </p:txBody>
      </p:sp>
      <p:sp>
        <p:nvSpPr>
          <p:cNvPr id="14" name="Text 12"/>
          <p:cNvSpPr/>
          <p:nvPr/>
        </p:nvSpPr>
        <p:spPr>
          <a:xfrm>
            <a:off x="502920" y="3346704"/>
            <a:ext cx="1005840" cy="320040"/>
          </a:xfrm>
          <a:prstGeom prst="rect">
            <a:avLst/>
          </a:prstGeom>
          <a:noFill/>
          <a:ln/>
        </p:spPr>
        <p:txBody>
          <a:bodyPr wrap="square" lIns="0" tIns="0" rIns="0" bIns="0" rtlCol="0" anchor="ctr"/>
          <a:lstStyle/>
          <a:p>
            <a:pPr marL="0" indent="0">
              <a:buNone/>
            </a:pPr>
            <a:r>
              <a:rPr lang="en-US" sz="1000" b="1" dirty="0">
                <a:solidFill>
                  <a:srgbClr val="C9DEFF"/>
                </a:solidFill>
                <a:latin typeface="Calibri" pitchFamily="34" charset="0"/>
                <a:ea typeface="Calibri" pitchFamily="34" charset="-122"/>
                <a:cs typeface="Calibri" pitchFamily="34" charset="-120"/>
              </a:rPr>
              <a:t>Course:</a:t>
            </a:r>
            <a:endParaRPr lang="en-US" sz="1000" dirty="0"/>
          </a:p>
        </p:txBody>
      </p:sp>
      <p:sp>
        <p:nvSpPr>
          <p:cNvPr id="15" name="Text 13"/>
          <p:cNvSpPr/>
          <p:nvPr/>
        </p:nvSpPr>
        <p:spPr>
          <a:xfrm>
            <a:off x="1554480" y="3346704"/>
            <a:ext cx="5029200" cy="32004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Database Systems — Spring 2026</a:t>
            </a:r>
            <a:endParaRPr lang="en-US" sz="1000" dirty="0"/>
          </a:p>
        </p:txBody>
      </p:sp>
      <p:sp>
        <p:nvSpPr>
          <p:cNvPr id="16" name="Text 14"/>
          <p:cNvSpPr/>
          <p:nvPr/>
        </p:nvSpPr>
        <p:spPr>
          <a:xfrm>
            <a:off x="502920" y="3694176"/>
            <a:ext cx="1005840" cy="320040"/>
          </a:xfrm>
          <a:prstGeom prst="rect">
            <a:avLst/>
          </a:prstGeom>
          <a:noFill/>
          <a:ln/>
        </p:spPr>
        <p:txBody>
          <a:bodyPr wrap="square" lIns="0" tIns="0" rIns="0" bIns="0" rtlCol="0" anchor="ctr"/>
          <a:lstStyle/>
          <a:p>
            <a:pPr marL="0" indent="0">
              <a:buNone/>
            </a:pPr>
            <a:r>
              <a:rPr lang="en-US" sz="1000" b="1" dirty="0">
                <a:solidFill>
                  <a:srgbClr val="C9DEFF"/>
                </a:solidFill>
                <a:latin typeface="Calibri" pitchFamily="34" charset="0"/>
                <a:ea typeface="Calibri" pitchFamily="34" charset="-122"/>
                <a:cs typeface="Calibri" pitchFamily="34" charset="-120"/>
              </a:rPr>
              <a:t>Instructor:</a:t>
            </a:r>
            <a:endParaRPr lang="en-US" sz="1000" dirty="0"/>
          </a:p>
        </p:txBody>
      </p:sp>
      <p:sp>
        <p:nvSpPr>
          <p:cNvPr id="17" name="Text 15"/>
          <p:cNvSpPr/>
          <p:nvPr/>
        </p:nvSpPr>
        <p:spPr>
          <a:xfrm>
            <a:off x="1554480" y="3694176"/>
            <a:ext cx="5029200" cy="320040"/>
          </a:xfrm>
          <a:prstGeom prst="rect">
            <a:avLst/>
          </a:prstGeom>
          <a:noFill/>
          <a:ln/>
        </p:spPr>
        <p:txBody>
          <a:bodyPr wrap="square" lIns="0" tIns="0" rIns="0" bIns="0" rtlCol="0" anchor="ctr"/>
          <a:lstStyle/>
          <a:p>
            <a:pPr marL="0" indent="0">
              <a:buNone/>
            </a:pPr>
            <a:r>
              <a:rPr lang="en-US" sz="1000" dirty="0" err="1">
                <a:solidFill>
                  <a:srgbClr val="FFFFFF"/>
                </a:solidFill>
                <a:latin typeface="Calibri" pitchFamily="34" charset="0"/>
                <a:ea typeface="Calibri" pitchFamily="34" charset="-122"/>
                <a:cs typeface="Calibri" pitchFamily="34" charset="-120"/>
              </a:rPr>
              <a:t>Dr.Momen</a:t>
            </a:r>
            <a:r>
              <a:rPr lang="en-US" sz="1000" dirty="0">
                <a:solidFill>
                  <a:srgbClr val="FFFFFF"/>
                </a:solidFill>
                <a:latin typeface="Calibri" pitchFamily="34" charset="0"/>
                <a:ea typeface="Calibri" pitchFamily="34" charset="-122"/>
                <a:cs typeface="Calibri" pitchFamily="34" charset="-120"/>
              </a:rPr>
              <a:t> Abu Ghazaleh</a:t>
            </a:r>
          </a:p>
        </p:txBody>
      </p:sp>
      <p:sp>
        <p:nvSpPr>
          <p:cNvPr id="18" name="Text 16"/>
          <p:cNvSpPr/>
          <p:nvPr/>
        </p:nvSpPr>
        <p:spPr>
          <a:xfrm>
            <a:off x="502920" y="4041648"/>
            <a:ext cx="1005840" cy="320040"/>
          </a:xfrm>
          <a:prstGeom prst="rect">
            <a:avLst/>
          </a:prstGeom>
          <a:noFill/>
          <a:ln/>
        </p:spPr>
        <p:txBody>
          <a:bodyPr wrap="square" lIns="0" tIns="0" rIns="0" bIns="0" rtlCol="0" anchor="ctr"/>
          <a:lstStyle/>
          <a:p>
            <a:pPr marL="0" indent="0">
              <a:buNone/>
            </a:pPr>
            <a:r>
              <a:rPr lang="en-US" sz="1000" b="1" dirty="0">
                <a:solidFill>
                  <a:srgbClr val="C9DEFF"/>
                </a:solidFill>
                <a:latin typeface="Calibri" pitchFamily="34" charset="0"/>
                <a:ea typeface="Calibri" pitchFamily="34" charset="-122"/>
                <a:cs typeface="Calibri" pitchFamily="34" charset="-120"/>
              </a:rPr>
              <a:t>Date:</a:t>
            </a:r>
            <a:endParaRPr lang="en-US" sz="1000" dirty="0"/>
          </a:p>
        </p:txBody>
      </p:sp>
      <p:sp>
        <p:nvSpPr>
          <p:cNvPr id="19" name="Text 17"/>
          <p:cNvSpPr/>
          <p:nvPr/>
        </p:nvSpPr>
        <p:spPr>
          <a:xfrm>
            <a:off x="1554480" y="4041648"/>
            <a:ext cx="5029200" cy="32004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June 2026</a:t>
            </a:r>
            <a:endParaRPr lang="en-US" sz="1000" dirty="0"/>
          </a:p>
        </p:txBody>
      </p:sp>
      <p:sp>
        <p:nvSpPr>
          <p:cNvPr id="20" name="Shape 18"/>
          <p:cNvSpPr/>
          <p:nvPr/>
        </p:nvSpPr>
        <p:spPr>
          <a:xfrm>
            <a:off x="7360920" y="1051560"/>
            <a:ext cx="502920" cy="502920"/>
          </a:xfrm>
          <a:prstGeom prst="ellipse">
            <a:avLst/>
          </a:prstGeom>
          <a:solidFill>
            <a:srgbClr val="4A6FA5"/>
          </a:solidFill>
          <a:ln/>
        </p:spPr>
      </p:sp>
      <p:pic>
        <p:nvPicPr>
          <p:cNvPr id="21" name="Image 0" descr="preencoded.png"/>
          <p:cNvPicPr>
            <a:picLocks noChangeAspect="1"/>
          </p:cNvPicPr>
          <p:nvPr/>
        </p:nvPicPr>
        <p:blipFill>
          <a:blip r:embed="rId3"/>
          <a:stretch>
            <a:fillRect/>
          </a:stretch>
        </p:blipFill>
        <p:spPr>
          <a:xfrm>
            <a:off x="7406640" y="1097280"/>
            <a:ext cx="411480" cy="411480"/>
          </a:xfrm>
          <a:prstGeom prst="rect">
            <a:avLst/>
          </a:prstGeom>
        </p:spPr>
      </p:pic>
      <p:sp>
        <p:nvSpPr>
          <p:cNvPr id="22" name="Text 19"/>
          <p:cNvSpPr/>
          <p:nvPr/>
        </p:nvSpPr>
        <p:spPr>
          <a:xfrm>
            <a:off x="7909560" y="1188720"/>
            <a:ext cx="1188720" cy="274320"/>
          </a:xfrm>
          <a:prstGeom prst="rect">
            <a:avLst/>
          </a:prstGeom>
          <a:noFill/>
          <a:ln/>
        </p:spPr>
        <p:txBody>
          <a:bodyPr wrap="square" lIns="0" tIns="0" rIns="0" bIns="0" rtlCol="0" anchor="ctr"/>
          <a:lstStyle/>
          <a:p>
            <a:pPr marL="0" indent="0">
              <a:buNone/>
            </a:pPr>
            <a:r>
              <a:rPr lang="en-US" sz="900" dirty="0">
                <a:solidFill>
                  <a:srgbClr val="C9DEFF"/>
                </a:solidFill>
                <a:latin typeface="Calibri" pitchFamily="34" charset="0"/>
                <a:ea typeface="Calibri" pitchFamily="34" charset="-122"/>
                <a:cs typeface="Calibri" pitchFamily="34" charset="-120"/>
              </a:rPr>
              <a:t>OLTP</a:t>
            </a:r>
            <a:endParaRPr lang="en-US" sz="900" dirty="0"/>
          </a:p>
        </p:txBody>
      </p:sp>
      <p:sp>
        <p:nvSpPr>
          <p:cNvPr id="23" name="Shape 20"/>
          <p:cNvSpPr/>
          <p:nvPr/>
        </p:nvSpPr>
        <p:spPr>
          <a:xfrm>
            <a:off x="7571232" y="1572768"/>
            <a:ext cx="22860" cy="521208"/>
          </a:xfrm>
          <a:prstGeom prst="rect">
            <a:avLst/>
          </a:prstGeom>
          <a:solidFill>
            <a:srgbClr val="3A7BD5"/>
          </a:solidFill>
          <a:ln/>
        </p:spPr>
      </p:sp>
      <p:sp>
        <p:nvSpPr>
          <p:cNvPr id="24" name="Shape 21"/>
          <p:cNvSpPr/>
          <p:nvPr/>
        </p:nvSpPr>
        <p:spPr>
          <a:xfrm>
            <a:off x="7360920" y="2057400"/>
            <a:ext cx="502920" cy="502920"/>
          </a:xfrm>
          <a:prstGeom prst="ellipse">
            <a:avLst/>
          </a:prstGeom>
          <a:solidFill>
            <a:srgbClr val="4A6FA5"/>
          </a:solidFill>
          <a:ln/>
        </p:spPr>
      </p:sp>
      <p:pic>
        <p:nvPicPr>
          <p:cNvPr id="25" name="Image 1" descr="preencoded.png"/>
          <p:cNvPicPr>
            <a:picLocks noChangeAspect="1"/>
          </p:cNvPicPr>
          <p:nvPr/>
        </p:nvPicPr>
        <p:blipFill>
          <a:blip r:embed="rId4"/>
          <a:stretch>
            <a:fillRect/>
          </a:stretch>
        </p:blipFill>
        <p:spPr>
          <a:xfrm>
            <a:off x="7406640" y="2103120"/>
            <a:ext cx="411480" cy="411480"/>
          </a:xfrm>
          <a:prstGeom prst="rect">
            <a:avLst/>
          </a:prstGeom>
        </p:spPr>
      </p:pic>
      <p:sp>
        <p:nvSpPr>
          <p:cNvPr id="26" name="Text 22"/>
          <p:cNvSpPr/>
          <p:nvPr/>
        </p:nvSpPr>
        <p:spPr>
          <a:xfrm>
            <a:off x="7909560" y="2194560"/>
            <a:ext cx="1188720" cy="274320"/>
          </a:xfrm>
          <a:prstGeom prst="rect">
            <a:avLst/>
          </a:prstGeom>
          <a:noFill/>
          <a:ln/>
        </p:spPr>
        <p:txBody>
          <a:bodyPr wrap="square" lIns="0" tIns="0" rIns="0" bIns="0" rtlCol="0" anchor="ctr"/>
          <a:lstStyle/>
          <a:p>
            <a:pPr marL="0" indent="0">
              <a:buNone/>
            </a:pPr>
            <a:r>
              <a:rPr lang="en-US" sz="900" dirty="0">
                <a:solidFill>
                  <a:srgbClr val="C9DEFF"/>
                </a:solidFill>
                <a:latin typeface="Calibri" pitchFamily="34" charset="0"/>
                <a:ea typeface="Calibri" pitchFamily="34" charset="-122"/>
                <a:cs typeface="Calibri" pitchFamily="34" charset="-120"/>
              </a:rPr>
              <a:t>ETL</a:t>
            </a:r>
            <a:endParaRPr lang="en-US" sz="900" dirty="0"/>
          </a:p>
        </p:txBody>
      </p:sp>
      <p:sp>
        <p:nvSpPr>
          <p:cNvPr id="27" name="Shape 23"/>
          <p:cNvSpPr/>
          <p:nvPr/>
        </p:nvSpPr>
        <p:spPr>
          <a:xfrm>
            <a:off x="7571232" y="2578608"/>
            <a:ext cx="22860" cy="521208"/>
          </a:xfrm>
          <a:prstGeom prst="rect">
            <a:avLst/>
          </a:prstGeom>
          <a:solidFill>
            <a:srgbClr val="3A7BD5"/>
          </a:solidFill>
          <a:ln/>
        </p:spPr>
      </p:sp>
      <p:sp>
        <p:nvSpPr>
          <p:cNvPr id="28" name="Shape 24"/>
          <p:cNvSpPr/>
          <p:nvPr/>
        </p:nvSpPr>
        <p:spPr>
          <a:xfrm>
            <a:off x="7360920" y="3063240"/>
            <a:ext cx="502920" cy="502920"/>
          </a:xfrm>
          <a:prstGeom prst="ellipse">
            <a:avLst/>
          </a:prstGeom>
          <a:solidFill>
            <a:srgbClr val="4A6FA5"/>
          </a:solidFill>
          <a:ln/>
        </p:spPr>
      </p:sp>
      <p:pic>
        <p:nvPicPr>
          <p:cNvPr id="29" name="Image 2" descr="preencoded.png"/>
          <p:cNvPicPr>
            <a:picLocks noChangeAspect="1"/>
          </p:cNvPicPr>
          <p:nvPr/>
        </p:nvPicPr>
        <p:blipFill>
          <a:blip r:embed="rId5"/>
          <a:stretch>
            <a:fillRect/>
          </a:stretch>
        </p:blipFill>
        <p:spPr>
          <a:xfrm>
            <a:off x="7406640" y="3108960"/>
            <a:ext cx="411480" cy="411480"/>
          </a:xfrm>
          <a:prstGeom prst="rect">
            <a:avLst/>
          </a:prstGeom>
        </p:spPr>
      </p:pic>
      <p:sp>
        <p:nvSpPr>
          <p:cNvPr id="30" name="Text 25"/>
          <p:cNvSpPr/>
          <p:nvPr/>
        </p:nvSpPr>
        <p:spPr>
          <a:xfrm>
            <a:off x="7909560" y="3200400"/>
            <a:ext cx="1188720" cy="274320"/>
          </a:xfrm>
          <a:prstGeom prst="rect">
            <a:avLst/>
          </a:prstGeom>
          <a:noFill/>
          <a:ln/>
        </p:spPr>
        <p:txBody>
          <a:bodyPr wrap="square" lIns="0" tIns="0" rIns="0" bIns="0" rtlCol="0" anchor="ctr"/>
          <a:lstStyle/>
          <a:p>
            <a:pPr marL="0" indent="0">
              <a:buNone/>
            </a:pPr>
            <a:r>
              <a:rPr lang="en-US" sz="900" dirty="0">
                <a:solidFill>
                  <a:srgbClr val="C9DEFF"/>
                </a:solidFill>
                <a:latin typeface="Calibri" pitchFamily="34" charset="0"/>
                <a:ea typeface="Calibri" pitchFamily="34" charset="-122"/>
                <a:cs typeface="Calibri" pitchFamily="34" charset="-120"/>
              </a:rPr>
              <a:t>Data Warehouse</a:t>
            </a:r>
            <a:endParaRPr lang="en-US" sz="900" dirty="0"/>
          </a:p>
        </p:txBody>
      </p:sp>
      <p:sp>
        <p:nvSpPr>
          <p:cNvPr id="31" name="Shape 26"/>
          <p:cNvSpPr/>
          <p:nvPr/>
        </p:nvSpPr>
        <p:spPr>
          <a:xfrm>
            <a:off x="7571232" y="3584448"/>
            <a:ext cx="22860" cy="521208"/>
          </a:xfrm>
          <a:prstGeom prst="rect">
            <a:avLst/>
          </a:prstGeom>
          <a:solidFill>
            <a:srgbClr val="3A7BD5"/>
          </a:solidFill>
          <a:ln/>
        </p:spPr>
      </p:sp>
      <p:sp>
        <p:nvSpPr>
          <p:cNvPr id="32" name="Shape 27"/>
          <p:cNvSpPr/>
          <p:nvPr/>
        </p:nvSpPr>
        <p:spPr>
          <a:xfrm>
            <a:off x="7360920" y="4069080"/>
            <a:ext cx="502920" cy="502920"/>
          </a:xfrm>
          <a:prstGeom prst="ellipse">
            <a:avLst/>
          </a:prstGeom>
          <a:solidFill>
            <a:srgbClr val="4A6FA5"/>
          </a:solidFill>
          <a:ln/>
        </p:spPr>
      </p:sp>
      <p:pic>
        <p:nvPicPr>
          <p:cNvPr id="33" name="Image 3" descr="preencoded.png"/>
          <p:cNvPicPr>
            <a:picLocks noChangeAspect="1"/>
          </p:cNvPicPr>
          <p:nvPr/>
        </p:nvPicPr>
        <p:blipFill>
          <a:blip r:embed="rId6"/>
          <a:stretch>
            <a:fillRect/>
          </a:stretch>
        </p:blipFill>
        <p:spPr>
          <a:xfrm>
            <a:off x="7406640" y="4114800"/>
            <a:ext cx="411480" cy="411480"/>
          </a:xfrm>
          <a:prstGeom prst="rect">
            <a:avLst/>
          </a:prstGeom>
        </p:spPr>
      </p:pic>
      <p:sp>
        <p:nvSpPr>
          <p:cNvPr id="34" name="Text 28"/>
          <p:cNvSpPr/>
          <p:nvPr/>
        </p:nvSpPr>
        <p:spPr>
          <a:xfrm>
            <a:off x="7909560" y="4206240"/>
            <a:ext cx="1188720" cy="274320"/>
          </a:xfrm>
          <a:prstGeom prst="rect">
            <a:avLst/>
          </a:prstGeom>
          <a:noFill/>
          <a:ln/>
        </p:spPr>
        <p:txBody>
          <a:bodyPr wrap="square" lIns="0" tIns="0" rIns="0" bIns="0" rtlCol="0" anchor="ctr"/>
          <a:lstStyle/>
          <a:p>
            <a:pPr marL="0" indent="0">
              <a:buNone/>
            </a:pPr>
            <a:r>
              <a:rPr lang="en-US" sz="900" dirty="0">
                <a:solidFill>
                  <a:srgbClr val="C9DEFF"/>
                </a:solidFill>
                <a:latin typeface="Calibri" pitchFamily="34" charset="0"/>
                <a:ea typeface="Calibri" pitchFamily="34" charset="-122"/>
                <a:cs typeface="Calibri" pitchFamily="34" charset="-120"/>
              </a:rPr>
              <a:t>Dashboard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11480" y="274320"/>
            <a:ext cx="64008" cy="685800"/>
          </a:xfrm>
          <a:prstGeom prst="rect">
            <a:avLst/>
          </a:prstGeom>
          <a:solidFill>
            <a:srgbClr val="3A7BD5"/>
          </a:solidFill>
          <a:ln/>
        </p:spPr>
      </p:sp>
      <p:sp>
        <p:nvSpPr>
          <p:cNvPr id="3" name="Text 1"/>
          <p:cNvSpPr/>
          <p:nvPr/>
        </p:nvSpPr>
        <p:spPr>
          <a:xfrm>
            <a:off x="566928" y="256032"/>
            <a:ext cx="7772400" cy="731520"/>
          </a:xfrm>
          <a:prstGeom prst="rect">
            <a:avLst/>
          </a:prstGeom>
          <a:noFill/>
          <a:ln/>
        </p:spPr>
        <p:txBody>
          <a:bodyPr wrap="square" lIns="0" tIns="0" rIns="0" bIns="0" rtlCol="0" anchor="ctr"/>
          <a:lstStyle/>
          <a:p>
            <a:pPr marL="0" indent="0">
              <a:buNone/>
            </a:pPr>
            <a:r>
              <a:rPr lang="en-US" sz="2600" b="1" dirty="0">
                <a:solidFill>
                  <a:srgbClr val="1A2F5E"/>
                </a:solidFill>
                <a:latin typeface="Calibri" pitchFamily="34" charset="0"/>
                <a:ea typeface="Calibri" pitchFamily="34" charset="-122"/>
                <a:cs typeface="Calibri" pitchFamily="34" charset="-120"/>
              </a:rPr>
              <a:t>Project Objective</a:t>
            </a:r>
            <a:endParaRPr lang="en-US" sz="2600" dirty="0"/>
          </a:p>
        </p:txBody>
      </p:sp>
      <p:pic>
        <p:nvPicPr>
          <p:cNvPr id="4" name="Image 0" descr="preencoded.png"/>
          <p:cNvPicPr>
            <a:picLocks noChangeAspect="1"/>
          </p:cNvPicPr>
          <p:nvPr/>
        </p:nvPicPr>
        <p:blipFill>
          <a:blip r:embed="rId3"/>
          <a:stretch>
            <a:fillRect/>
          </a:stretch>
        </p:blipFill>
        <p:spPr>
          <a:xfrm>
            <a:off x="8321040" y="201168"/>
            <a:ext cx="502920" cy="502920"/>
          </a:xfrm>
          <a:prstGeom prst="rect">
            <a:avLst/>
          </a:prstGeom>
        </p:spPr>
      </p:pic>
      <p:sp>
        <p:nvSpPr>
          <p:cNvPr id="5" name="Shape 2"/>
          <p:cNvSpPr/>
          <p:nvPr/>
        </p:nvSpPr>
        <p:spPr>
          <a:xfrm>
            <a:off x="411480" y="1033272"/>
            <a:ext cx="8321040" cy="16459"/>
          </a:xfrm>
          <a:prstGeom prst="rect">
            <a:avLst/>
          </a:prstGeom>
          <a:solidFill>
            <a:srgbClr val="E8EEF6"/>
          </a:solidFill>
          <a:ln/>
        </p:spPr>
      </p:sp>
      <p:sp>
        <p:nvSpPr>
          <p:cNvPr id="6" name="Text 3"/>
          <p:cNvSpPr/>
          <p:nvPr/>
        </p:nvSpPr>
        <p:spPr>
          <a:xfrm>
            <a:off x="8046720" y="4754880"/>
            <a:ext cx="822960" cy="228600"/>
          </a:xfrm>
          <a:prstGeom prst="rect">
            <a:avLst/>
          </a:prstGeom>
          <a:noFill/>
          <a:ln/>
        </p:spPr>
        <p:txBody>
          <a:bodyPr wrap="square" lIns="0" tIns="0" rIns="0" bIns="0" rtlCol="0" anchor="ctr"/>
          <a:lstStyle/>
          <a:p>
            <a:pPr marL="0" indent="0" algn="r">
              <a:buNone/>
            </a:pPr>
            <a:r>
              <a:rPr lang="en-US" sz="900" dirty="0">
                <a:solidFill>
                  <a:srgbClr val="8A9BB5"/>
                </a:solidFill>
              </a:rPr>
              <a:t>2 / 11</a:t>
            </a:r>
            <a:endParaRPr lang="en-US" sz="900" dirty="0"/>
          </a:p>
        </p:txBody>
      </p:sp>
      <p:sp>
        <p:nvSpPr>
          <p:cNvPr id="7" name="Shape 4"/>
          <p:cNvSpPr/>
          <p:nvPr/>
        </p:nvSpPr>
        <p:spPr>
          <a:xfrm>
            <a:off x="411480" y="1188720"/>
            <a:ext cx="3886200" cy="3474720"/>
          </a:xfrm>
          <a:prstGeom prst="rect">
            <a:avLst/>
          </a:prstGeom>
          <a:solidFill>
            <a:srgbClr val="FFFFFF"/>
          </a:solidFill>
          <a:ln/>
          <a:effectLst>
            <a:outerShdw blurRad="127000" dist="25400" dir="8100000" algn="bl" rotWithShape="0">
              <a:srgbClr val="000000">
                <a:alpha val="10000"/>
              </a:srgbClr>
            </a:outerShdw>
          </a:effectLst>
        </p:spPr>
      </p:sp>
      <p:sp>
        <p:nvSpPr>
          <p:cNvPr id="8" name="Shape 5"/>
          <p:cNvSpPr/>
          <p:nvPr/>
        </p:nvSpPr>
        <p:spPr>
          <a:xfrm>
            <a:off x="411480" y="1188720"/>
            <a:ext cx="3886200" cy="384048"/>
          </a:xfrm>
          <a:prstGeom prst="rect">
            <a:avLst/>
          </a:prstGeom>
          <a:solidFill>
            <a:srgbClr val="1A2F5E"/>
          </a:solidFill>
          <a:ln/>
        </p:spPr>
      </p:sp>
      <p:pic>
        <p:nvPicPr>
          <p:cNvPr id="9" name="Image 1" descr="preencoded.png"/>
          <p:cNvPicPr>
            <a:picLocks noChangeAspect="1"/>
          </p:cNvPicPr>
          <p:nvPr/>
        </p:nvPicPr>
        <p:blipFill>
          <a:blip r:embed="rId4"/>
          <a:stretch>
            <a:fillRect/>
          </a:stretch>
        </p:blipFill>
        <p:spPr>
          <a:xfrm>
            <a:off x="548640" y="1234440"/>
            <a:ext cx="292608" cy="292608"/>
          </a:xfrm>
          <a:prstGeom prst="rect">
            <a:avLst/>
          </a:prstGeom>
        </p:spPr>
      </p:pic>
      <p:sp>
        <p:nvSpPr>
          <p:cNvPr id="10" name="Text 6"/>
          <p:cNvSpPr/>
          <p:nvPr/>
        </p:nvSpPr>
        <p:spPr>
          <a:xfrm>
            <a:off x="914400" y="1234440"/>
            <a:ext cx="324612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OLTP — Daily Operations</a:t>
            </a:r>
            <a:endParaRPr lang="en-US" sz="1100" dirty="0"/>
          </a:p>
        </p:txBody>
      </p:sp>
      <p:sp>
        <p:nvSpPr>
          <p:cNvPr id="11" name="Text 7"/>
          <p:cNvSpPr/>
          <p:nvPr/>
        </p:nvSpPr>
        <p:spPr>
          <a:xfrm>
            <a:off x="566928" y="1691640"/>
            <a:ext cx="3611880" cy="283464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C2B4A"/>
                </a:solidFill>
                <a:latin typeface="Calibri" pitchFamily="34" charset="0"/>
                <a:ea typeface="Calibri" pitchFamily="34" charset="-122"/>
                <a:cs typeface="Calibri" pitchFamily="34" charset="-120"/>
              </a:rPr>
              <a:t>Handles day-to-day transactions</a:t>
            </a:r>
            <a:endParaRPr lang="en-US" sz="1200" dirty="0"/>
          </a:p>
          <a:p>
            <a:pPr marL="127000" indent="-127000">
              <a:spcAft>
                <a:spcPts val="600"/>
              </a:spcAft>
              <a:buSzPct val="100000"/>
              <a:buChar char="•"/>
            </a:pPr>
            <a:r>
              <a:rPr lang="en-US" sz="1200" dirty="0">
                <a:solidFill>
                  <a:srgbClr val="1C2B4A"/>
                </a:solidFill>
                <a:latin typeface="Calibri" pitchFamily="34" charset="0"/>
                <a:ea typeface="Calibri" pitchFamily="34" charset="-122"/>
                <a:cs typeface="Calibri" pitchFamily="34" charset="-120"/>
              </a:rPr>
              <a:t>Processes rentals, payments, returns</a:t>
            </a:r>
            <a:endParaRPr lang="en-US" sz="1200" dirty="0"/>
          </a:p>
          <a:p>
            <a:pPr marL="127000" indent="-127000">
              <a:spcAft>
                <a:spcPts val="600"/>
              </a:spcAft>
              <a:buSzPct val="100000"/>
              <a:buChar char="•"/>
            </a:pPr>
            <a:r>
              <a:rPr lang="en-US" sz="1200" dirty="0">
                <a:solidFill>
                  <a:srgbClr val="1C2B4A"/>
                </a:solidFill>
                <a:latin typeface="Calibri" pitchFamily="34" charset="0"/>
                <a:ea typeface="Calibri" pitchFamily="34" charset="-122"/>
                <a:cs typeface="Calibri" pitchFamily="34" charset="-120"/>
              </a:rPr>
              <a:t>Optimized for INSERT / UPDATE speed</a:t>
            </a:r>
            <a:endParaRPr lang="en-US" sz="1200" dirty="0"/>
          </a:p>
          <a:p>
            <a:pPr marL="127000" indent="-127000">
              <a:spcAft>
                <a:spcPts val="600"/>
              </a:spcAft>
              <a:buSzPct val="100000"/>
              <a:buChar char="•"/>
            </a:pPr>
            <a:r>
              <a:rPr lang="en-US" sz="1200" dirty="0">
                <a:solidFill>
                  <a:srgbClr val="1C2B4A"/>
                </a:solidFill>
                <a:latin typeface="Calibri" pitchFamily="34" charset="0"/>
                <a:ea typeface="Calibri" pitchFamily="34" charset="-122"/>
                <a:cs typeface="Calibri" pitchFamily="34" charset="-120"/>
              </a:rPr>
              <a:t>Stores current operational data</a:t>
            </a:r>
            <a:endParaRPr lang="en-US" sz="1200" dirty="0"/>
          </a:p>
          <a:p>
            <a:pPr marL="127000" indent="-127000">
              <a:spcAft>
                <a:spcPts val="600"/>
              </a:spcAft>
              <a:buSzPct val="100000"/>
              <a:buChar char="•"/>
            </a:pPr>
            <a:r>
              <a:rPr lang="en-US" sz="1200" dirty="0">
                <a:solidFill>
                  <a:srgbClr val="1C2B4A"/>
                </a:solidFill>
                <a:latin typeface="Calibri" pitchFamily="34" charset="0"/>
                <a:ea typeface="Calibri" pitchFamily="34" charset="-122"/>
                <a:cs typeface="Calibri" pitchFamily="34" charset="-120"/>
              </a:rPr>
              <a:t>Not designed for complex analysis</a:t>
            </a:r>
            <a:endParaRPr lang="en-US" sz="1200" dirty="0"/>
          </a:p>
        </p:txBody>
      </p:sp>
      <p:sp>
        <p:nvSpPr>
          <p:cNvPr id="12" name="Shape 8"/>
          <p:cNvSpPr/>
          <p:nvPr/>
        </p:nvSpPr>
        <p:spPr>
          <a:xfrm>
            <a:off x="4846320" y="1188720"/>
            <a:ext cx="3886200" cy="3474720"/>
          </a:xfrm>
          <a:prstGeom prst="rect">
            <a:avLst/>
          </a:prstGeom>
          <a:solidFill>
            <a:srgbClr val="FFFFFF"/>
          </a:solidFill>
          <a:ln/>
          <a:effectLst>
            <a:outerShdw blurRad="127000" dist="25400" dir="8100000" algn="bl" rotWithShape="0">
              <a:srgbClr val="000000">
                <a:alpha val="10000"/>
              </a:srgbClr>
            </a:outerShdw>
          </a:effectLst>
        </p:spPr>
      </p:sp>
      <p:sp>
        <p:nvSpPr>
          <p:cNvPr id="13" name="Shape 9"/>
          <p:cNvSpPr/>
          <p:nvPr/>
        </p:nvSpPr>
        <p:spPr>
          <a:xfrm>
            <a:off x="4846320" y="1188720"/>
            <a:ext cx="3886200" cy="384048"/>
          </a:xfrm>
          <a:prstGeom prst="rect">
            <a:avLst/>
          </a:prstGeom>
          <a:solidFill>
            <a:srgbClr val="3A7BD5"/>
          </a:solidFill>
          <a:ln/>
        </p:spPr>
      </p:sp>
      <p:pic>
        <p:nvPicPr>
          <p:cNvPr id="14" name="Image 2" descr="preencoded.png"/>
          <p:cNvPicPr>
            <a:picLocks noChangeAspect="1"/>
          </p:cNvPicPr>
          <p:nvPr/>
        </p:nvPicPr>
        <p:blipFill>
          <a:blip r:embed="rId5"/>
          <a:stretch>
            <a:fillRect/>
          </a:stretch>
        </p:blipFill>
        <p:spPr>
          <a:xfrm>
            <a:off x="4983480" y="1234440"/>
            <a:ext cx="292608" cy="292608"/>
          </a:xfrm>
          <a:prstGeom prst="rect">
            <a:avLst/>
          </a:prstGeom>
        </p:spPr>
      </p:pic>
      <p:sp>
        <p:nvSpPr>
          <p:cNvPr id="15" name="Text 10"/>
          <p:cNvSpPr/>
          <p:nvPr/>
        </p:nvSpPr>
        <p:spPr>
          <a:xfrm>
            <a:off x="5349240" y="1234440"/>
            <a:ext cx="324612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Data Warehouse — Analysis</a:t>
            </a:r>
            <a:endParaRPr lang="en-US" sz="1100" dirty="0"/>
          </a:p>
        </p:txBody>
      </p:sp>
      <p:sp>
        <p:nvSpPr>
          <p:cNvPr id="16" name="Text 11"/>
          <p:cNvSpPr/>
          <p:nvPr/>
        </p:nvSpPr>
        <p:spPr>
          <a:xfrm>
            <a:off x="5010912" y="1691640"/>
            <a:ext cx="3611880" cy="283464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C2B4A"/>
                </a:solidFill>
                <a:latin typeface="Calibri" pitchFamily="34" charset="0"/>
                <a:ea typeface="Calibri" pitchFamily="34" charset="-122"/>
                <a:cs typeface="Calibri" pitchFamily="34" charset="-120"/>
              </a:rPr>
              <a:t>Aggregates historical data over time</a:t>
            </a:r>
            <a:endParaRPr lang="en-US" sz="1200" dirty="0"/>
          </a:p>
          <a:p>
            <a:pPr marL="127000" indent="-127000">
              <a:spcAft>
                <a:spcPts val="600"/>
              </a:spcAft>
              <a:buSzPct val="100000"/>
              <a:buChar char="•"/>
            </a:pPr>
            <a:r>
              <a:rPr lang="en-US" sz="1200" dirty="0">
                <a:solidFill>
                  <a:srgbClr val="1C2B4A"/>
                </a:solidFill>
                <a:latin typeface="Calibri" pitchFamily="34" charset="0"/>
                <a:ea typeface="Calibri" pitchFamily="34" charset="-122"/>
                <a:cs typeface="Calibri" pitchFamily="34" charset="-120"/>
              </a:rPr>
              <a:t>Answers complex business questions</a:t>
            </a:r>
            <a:endParaRPr lang="en-US" sz="1200" dirty="0"/>
          </a:p>
          <a:p>
            <a:pPr marL="127000" indent="-127000">
              <a:spcAft>
                <a:spcPts val="600"/>
              </a:spcAft>
              <a:buSzPct val="100000"/>
              <a:buChar char="•"/>
            </a:pPr>
            <a:r>
              <a:rPr lang="en-US" sz="1200" dirty="0">
                <a:solidFill>
                  <a:srgbClr val="1C2B4A"/>
                </a:solidFill>
                <a:latin typeface="Calibri" pitchFamily="34" charset="0"/>
                <a:ea typeface="Calibri" pitchFamily="34" charset="-122"/>
                <a:cs typeface="Calibri" pitchFamily="34" charset="-120"/>
              </a:rPr>
              <a:t>Optimized for fast analytical queries</a:t>
            </a:r>
            <a:endParaRPr lang="en-US" sz="1200" dirty="0"/>
          </a:p>
          <a:p>
            <a:pPr marL="127000" indent="-127000">
              <a:spcAft>
                <a:spcPts val="600"/>
              </a:spcAft>
              <a:buSzPct val="100000"/>
              <a:buChar char="•"/>
            </a:pPr>
            <a:r>
              <a:rPr lang="en-US" sz="1200" dirty="0">
                <a:solidFill>
                  <a:srgbClr val="1C2B4A"/>
                </a:solidFill>
                <a:latin typeface="Calibri" pitchFamily="34" charset="0"/>
                <a:ea typeface="Calibri" pitchFamily="34" charset="-122"/>
                <a:cs typeface="Calibri" pitchFamily="34" charset="-120"/>
              </a:rPr>
              <a:t>Supports decision making for managers</a:t>
            </a:r>
            <a:endParaRPr lang="en-US" sz="1200" dirty="0"/>
          </a:p>
          <a:p>
            <a:pPr marL="127000" indent="-127000">
              <a:spcAft>
                <a:spcPts val="600"/>
              </a:spcAft>
              <a:buSzPct val="100000"/>
              <a:buChar char="•"/>
            </a:pPr>
            <a:r>
              <a:rPr lang="en-US" sz="1200" dirty="0">
                <a:solidFill>
                  <a:srgbClr val="1C2B4A"/>
                </a:solidFill>
                <a:latin typeface="Calibri" pitchFamily="34" charset="0"/>
                <a:ea typeface="Calibri" pitchFamily="34" charset="-122"/>
                <a:cs typeface="Calibri" pitchFamily="34" charset="-120"/>
              </a:rPr>
              <a:t>Integrates data from multiple sources</a:t>
            </a:r>
            <a:endParaRPr lang="en-US" sz="1200" dirty="0"/>
          </a:p>
        </p:txBody>
      </p:sp>
      <p:sp>
        <p:nvSpPr>
          <p:cNvPr id="17" name="Shape 12"/>
          <p:cNvSpPr/>
          <p:nvPr/>
        </p:nvSpPr>
        <p:spPr>
          <a:xfrm>
            <a:off x="4279392" y="2651760"/>
            <a:ext cx="594360" cy="594360"/>
          </a:xfrm>
          <a:prstGeom prst="ellipse">
            <a:avLst/>
          </a:prstGeom>
          <a:solidFill>
            <a:srgbClr val="E8A917"/>
          </a:solidFill>
          <a:ln/>
        </p:spPr>
      </p:sp>
      <p:pic>
        <p:nvPicPr>
          <p:cNvPr id="18" name="Image 3" descr="preencoded.png"/>
          <p:cNvPicPr>
            <a:picLocks noChangeAspect="1"/>
          </p:cNvPicPr>
          <p:nvPr/>
        </p:nvPicPr>
        <p:blipFill>
          <a:blip r:embed="rId6"/>
          <a:stretch>
            <a:fillRect/>
          </a:stretch>
        </p:blipFill>
        <p:spPr>
          <a:xfrm>
            <a:off x="4325112" y="2697480"/>
            <a:ext cx="502920" cy="5029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11480" y="274320"/>
            <a:ext cx="64008" cy="685800"/>
          </a:xfrm>
          <a:prstGeom prst="rect">
            <a:avLst/>
          </a:prstGeom>
          <a:solidFill>
            <a:srgbClr val="3A7BD5"/>
          </a:solidFill>
          <a:ln/>
        </p:spPr>
      </p:sp>
      <p:sp>
        <p:nvSpPr>
          <p:cNvPr id="3" name="Text 1"/>
          <p:cNvSpPr/>
          <p:nvPr/>
        </p:nvSpPr>
        <p:spPr>
          <a:xfrm>
            <a:off x="566928" y="256032"/>
            <a:ext cx="7772400" cy="731520"/>
          </a:xfrm>
          <a:prstGeom prst="rect">
            <a:avLst/>
          </a:prstGeom>
          <a:noFill/>
          <a:ln/>
        </p:spPr>
        <p:txBody>
          <a:bodyPr wrap="square" lIns="0" tIns="0" rIns="0" bIns="0" rtlCol="0" anchor="ctr"/>
          <a:lstStyle/>
          <a:p>
            <a:pPr marL="0" indent="0">
              <a:buNone/>
            </a:pPr>
            <a:r>
              <a:rPr lang="en-US" sz="2600" b="1" dirty="0">
                <a:solidFill>
                  <a:srgbClr val="1A2F5E"/>
                </a:solidFill>
                <a:latin typeface="Calibri" pitchFamily="34" charset="0"/>
                <a:ea typeface="Calibri" pitchFamily="34" charset="-122"/>
                <a:cs typeface="Calibri" pitchFamily="34" charset="-120"/>
              </a:rPr>
              <a:t>OLTP vs. Data Warehouse</a:t>
            </a:r>
            <a:endParaRPr lang="en-US" sz="2600" dirty="0"/>
          </a:p>
        </p:txBody>
      </p:sp>
      <p:pic>
        <p:nvPicPr>
          <p:cNvPr id="4" name="Image 0" descr="preencoded.png"/>
          <p:cNvPicPr>
            <a:picLocks noChangeAspect="1"/>
          </p:cNvPicPr>
          <p:nvPr/>
        </p:nvPicPr>
        <p:blipFill>
          <a:blip r:embed="rId3"/>
          <a:stretch>
            <a:fillRect/>
          </a:stretch>
        </p:blipFill>
        <p:spPr>
          <a:xfrm>
            <a:off x="8321040" y="201168"/>
            <a:ext cx="502920" cy="502920"/>
          </a:xfrm>
          <a:prstGeom prst="rect">
            <a:avLst/>
          </a:prstGeom>
        </p:spPr>
      </p:pic>
      <p:sp>
        <p:nvSpPr>
          <p:cNvPr id="5" name="Shape 2"/>
          <p:cNvSpPr/>
          <p:nvPr/>
        </p:nvSpPr>
        <p:spPr>
          <a:xfrm>
            <a:off x="411480" y="1033272"/>
            <a:ext cx="8321040" cy="16459"/>
          </a:xfrm>
          <a:prstGeom prst="rect">
            <a:avLst/>
          </a:prstGeom>
          <a:solidFill>
            <a:srgbClr val="E8EEF6"/>
          </a:solidFill>
          <a:ln/>
        </p:spPr>
      </p:sp>
      <p:sp>
        <p:nvSpPr>
          <p:cNvPr id="6" name="Text 3"/>
          <p:cNvSpPr/>
          <p:nvPr/>
        </p:nvSpPr>
        <p:spPr>
          <a:xfrm>
            <a:off x="8046720" y="4754880"/>
            <a:ext cx="822960" cy="228600"/>
          </a:xfrm>
          <a:prstGeom prst="rect">
            <a:avLst/>
          </a:prstGeom>
          <a:noFill/>
          <a:ln/>
        </p:spPr>
        <p:txBody>
          <a:bodyPr wrap="square" lIns="0" tIns="0" rIns="0" bIns="0" rtlCol="0" anchor="ctr"/>
          <a:lstStyle/>
          <a:p>
            <a:pPr marL="0" indent="0" algn="r">
              <a:buNone/>
            </a:pPr>
            <a:r>
              <a:rPr lang="en-US" sz="900" dirty="0">
                <a:solidFill>
                  <a:srgbClr val="8A9BB5"/>
                </a:solidFill>
              </a:rPr>
              <a:t>3 / 11</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8321040" cy="3072384"/>
        </p:xfrm>
        <a:graphic>
          <a:graphicData uri="http://schemas.openxmlformats.org/drawingml/2006/table">
            <a:tbl>
              <a:tblPr/>
              <a:tblGrid>
                <a:gridCol w="192024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3337560">
                  <a:extLst>
                    <a:ext uri="{9D8B030D-6E8A-4147-A177-3AD203B41FA5}">
                      <a16:colId xmlns:a16="http://schemas.microsoft.com/office/drawing/2014/main" val="20002"/>
                    </a:ext>
                  </a:extLst>
                </a:gridCol>
              </a:tblGrid>
              <a:tr h="438912">
                <a:tc>
                  <a:txBody>
                    <a:bodyPr/>
                    <a:lstStyle/>
                    <a:p>
                      <a:pPr marL="0" indent="0">
                        <a:buNone/>
                      </a:pPr>
                      <a:r>
                        <a:rPr lang="en-US" sz="1200" b="1" dirty="0">
                          <a:solidFill>
                            <a:srgbClr val="FFFFFF"/>
                          </a:solidFill>
                        </a:rPr>
                        <a:t>Dimension</a:t>
                      </a:r>
                      <a:endParaRPr lang="en-US" sz="1200" dirty="0"/>
                    </a:p>
                  </a:txBody>
                  <a:tcPr>
                    <a:lnL w="6350" cap="flat" cmpd="sng" algn="ctr">
                      <a:solidFill>
                        <a:srgbClr val="E8EEF6"/>
                      </a:solidFill>
                      <a:prstDash val="solid"/>
                      <a:round/>
                      <a:headEnd type="none" w="med" len="med"/>
                      <a:tailEnd type="none" w="med" len="med"/>
                    </a:lnL>
                    <a:lnR w="6350" cap="flat" cmpd="sng" algn="ctr">
                      <a:solidFill>
                        <a:srgbClr val="E8EEF6"/>
                      </a:solidFill>
                      <a:prstDash val="solid"/>
                      <a:round/>
                      <a:headEnd type="none" w="med" len="med"/>
                      <a:tailEnd type="none" w="med" len="med"/>
                    </a:lnR>
                    <a:lnT w="6350" cap="flat" cmpd="sng" algn="ctr">
                      <a:solidFill>
                        <a:srgbClr val="E8EEF6"/>
                      </a:solidFill>
                      <a:prstDash val="solid"/>
                      <a:round/>
                      <a:headEnd type="none" w="med" len="med"/>
                      <a:tailEnd type="none" w="med" len="med"/>
                    </a:lnT>
                    <a:lnB w="6350" cap="flat" cmpd="sng" algn="ctr">
                      <a:solidFill>
                        <a:srgbClr val="E8EEF6"/>
                      </a:solidFill>
                      <a:prstDash val="solid"/>
                      <a:round/>
                      <a:headEnd type="none" w="med" len="med"/>
                      <a:tailEnd type="none" w="med" len="med"/>
                    </a:lnB>
                    <a:solidFill>
                      <a:srgbClr val="1A2F5E"/>
                    </a:solidFill>
                  </a:tcPr>
                </a:tc>
                <a:tc>
                  <a:txBody>
                    <a:bodyPr/>
                    <a:lstStyle/>
                    <a:p>
                      <a:pPr marL="0" indent="0" algn="ctr">
                        <a:buNone/>
                      </a:pPr>
                      <a:r>
                        <a:rPr lang="en-US" sz="1200" b="1" dirty="0">
                          <a:solidFill>
                            <a:srgbClr val="FFFFFF"/>
                          </a:solidFill>
                        </a:rPr>
                        <a:t>OLTP Database</a:t>
                      </a:r>
                      <a:endParaRPr lang="en-US" sz="1200" dirty="0"/>
                    </a:p>
                  </a:txBody>
                  <a:tcPr>
                    <a:lnL w="6350" cap="flat" cmpd="sng" algn="ctr">
                      <a:solidFill>
                        <a:srgbClr val="E8EEF6"/>
                      </a:solidFill>
                      <a:prstDash val="solid"/>
                      <a:round/>
                      <a:headEnd type="none" w="med" len="med"/>
                      <a:tailEnd type="none" w="med" len="med"/>
                    </a:lnL>
                    <a:lnR w="6350" cap="flat" cmpd="sng" algn="ctr">
                      <a:solidFill>
                        <a:srgbClr val="E8EEF6"/>
                      </a:solidFill>
                      <a:prstDash val="solid"/>
                      <a:round/>
                      <a:headEnd type="none" w="med" len="med"/>
                      <a:tailEnd type="none" w="med" len="med"/>
                    </a:lnR>
                    <a:lnT w="6350" cap="flat" cmpd="sng" algn="ctr">
                      <a:solidFill>
                        <a:srgbClr val="E8EEF6"/>
                      </a:solidFill>
                      <a:prstDash val="solid"/>
                      <a:round/>
                      <a:headEnd type="none" w="med" len="med"/>
                      <a:tailEnd type="none" w="med" len="med"/>
                    </a:lnT>
                    <a:lnB w="6350" cap="flat" cmpd="sng" algn="ctr">
                      <a:solidFill>
                        <a:srgbClr val="E8EEF6"/>
                      </a:solidFill>
                      <a:prstDash val="solid"/>
                      <a:round/>
                      <a:headEnd type="none" w="med" len="med"/>
                      <a:tailEnd type="none" w="med" len="med"/>
                    </a:lnB>
                    <a:solidFill>
                      <a:srgbClr val="1A2F5E"/>
                    </a:solidFill>
                  </a:tcPr>
                </a:tc>
                <a:tc>
                  <a:txBody>
                    <a:bodyPr/>
                    <a:lstStyle/>
                    <a:p>
                      <a:pPr marL="0" indent="0" algn="ctr">
                        <a:buNone/>
                      </a:pPr>
                      <a:r>
                        <a:rPr lang="en-US" sz="1200" b="1" dirty="0">
                          <a:solidFill>
                            <a:srgbClr val="FFFFFF"/>
                          </a:solidFill>
                        </a:rPr>
                        <a:t>Data Warehouse</a:t>
                      </a:r>
                      <a:endParaRPr lang="en-US" sz="1200" dirty="0"/>
                    </a:p>
                  </a:txBody>
                  <a:tcPr>
                    <a:lnL w="6350" cap="flat" cmpd="sng" algn="ctr">
                      <a:solidFill>
                        <a:srgbClr val="E8EEF6"/>
                      </a:solidFill>
                      <a:prstDash val="solid"/>
                      <a:round/>
                      <a:headEnd type="none" w="med" len="med"/>
                      <a:tailEnd type="none" w="med" len="med"/>
                    </a:lnL>
                    <a:lnR w="6350" cap="flat" cmpd="sng" algn="ctr">
                      <a:solidFill>
                        <a:srgbClr val="E8EEF6"/>
                      </a:solidFill>
                      <a:prstDash val="solid"/>
                      <a:round/>
                      <a:headEnd type="none" w="med" len="med"/>
                      <a:tailEnd type="none" w="med" len="med"/>
                    </a:lnR>
                    <a:lnT w="6350" cap="flat" cmpd="sng" algn="ctr">
                      <a:solidFill>
                        <a:srgbClr val="E8EEF6"/>
                      </a:solidFill>
                      <a:prstDash val="solid"/>
                      <a:round/>
                      <a:headEnd type="none" w="med" len="med"/>
                      <a:tailEnd type="none" w="med" len="med"/>
                    </a:lnT>
                    <a:lnB w="6350" cap="flat" cmpd="sng" algn="ctr">
                      <a:solidFill>
                        <a:srgbClr val="E8EEF6"/>
                      </a:solidFill>
                      <a:prstDash val="solid"/>
                      <a:round/>
                      <a:headEnd type="none" w="med" len="med"/>
                      <a:tailEnd type="none" w="med" len="med"/>
                    </a:lnB>
                    <a:solidFill>
                      <a:srgbClr val="3A7BD5"/>
                    </a:solidFill>
                  </a:tcPr>
                </a:tc>
                <a:extLst>
                  <a:ext uri="{0D108BD9-81ED-4DB2-BD59-A6C34878D82A}">
                    <a16:rowId xmlns:a16="http://schemas.microsoft.com/office/drawing/2014/main" val="10000"/>
                  </a:ext>
                </a:extLst>
              </a:tr>
              <a:tr h="438912">
                <a:tc>
                  <a:txBody>
                    <a:bodyPr/>
                    <a:lstStyle/>
                    <a:p>
                      <a:pPr marL="0" indent="0">
                        <a:buNone/>
                      </a:pPr>
                      <a:r>
                        <a:rPr lang="en-US" sz="1100" b="1" dirty="0">
                          <a:solidFill>
                            <a:srgbClr val="2C3E50"/>
                          </a:solidFill>
                        </a:rPr>
                        <a:t>Purpose</a:t>
                      </a:r>
                      <a:endParaRPr lang="en-US" sz="1100" dirty="0"/>
                    </a:p>
                  </a:txBody>
                  <a:tcPr>
                    <a:lnL w="6350" cap="flat" cmpd="sng" algn="ctr">
                      <a:solidFill>
                        <a:srgbClr val="E8EEF6"/>
                      </a:solidFill>
                      <a:prstDash val="solid"/>
                      <a:round/>
                      <a:headEnd type="none" w="med" len="med"/>
                      <a:tailEnd type="none" w="med" len="med"/>
                    </a:lnL>
                    <a:lnR w="6350" cap="flat" cmpd="sng" algn="ctr">
                      <a:solidFill>
                        <a:srgbClr val="E8EEF6"/>
                      </a:solidFill>
                      <a:prstDash val="solid"/>
                      <a:round/>
                      <a:headEnd type="none" w="med" len="med"/>
                      <a:tailEnd type="none" w="med" len="med"/>
                    </a:lnR>
                    <a:lnT w="6350" cap="flat" cmpd="sng" algn="ctr">
                      <a:solidFill>
                        <a:srgbClr val="E8EEF6"/>
                      </a:solidFill>
                      <a:prstDash val="solid"/>
                      <a:round/>
                      <a:headEnd type="none" w="med" len="med"/>
                      <a:tailEnd type="none" w="med" len="med"/>
                    </a:lnT>
                    <a:lnB w="6350" cap="flat" cmpd="sng" algn="ctr">
                      <a:solidFill>
                        <a:srgbClr val="E8EEF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C2B4A"/>
                          </a:solidFill>
                        </a:rPr>
                        <a:t>Daily transactions</a:t>
                      </a:r>
                      <a:endParaRPr lang="en-US" sz="1100" dirty="0"/>
                    </a:p>
                  </a:txBody>
                  <a:tcPr>
                    <a:lnL w="6350" cap="flat" cmpd="sng" algn="ctr">
                      <a:solidFill>
                        <a:srgbClr val="E8EEF6"/>
                      </a:solidFill>
                      <a:prstDash val="solid"/>
                      <a:round/>
                      <a:headEnd type="none" w="med" len="med"/>
                      <a:tailEnd type="none" w="med" len="med"/>
                    </a:lnL>
                    <a:lnR w="6350" cap="flat" cmpd="sng" algn="ctr">
                      <a:solidFill>
                        <a:srgbClr val="E8EEF6"/>
                      </a:solidFill>
                      <a:prstDash val="solid"/>
                      <a:round/>
                      <a:headEnd type="none" w="med" len="med"/>
                      <a:tailEnd type="none" w="med" len="med"/>
                    </a:lnR>
                    <a:lnT w="6350" cap="flat" cmpd="sng" algn="ctr">
                      <a:solidFill>
                        <a:srgbClr val="E8EEF6"/>
                      </a:solidFill>
                      <a:prstDash val="solid"/>
                      <a:round/>
                      <a:headEnd type="none" w="med" len="med"/>
                      <a:tailEnd type="none" w="med" len="med"/>
                    </a:lnT>
                    <a:lnB w="6350" cap="flat" cmpd="sng" algn="ctr">
                      <a:solidFill>
                        <a:srgbClr val="E8EEF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C2B4A"/>
                          </a:solidFill>
                        </a:rPr>
                        <a:t>Business analysis &amp; reporting</a:t>
                      </a:r>
                      <a:endParaRPr lang="en-US" sz="1100" dirty="0"/>
                    </a:p>
                  </a:txBody>
                  <a:tcPr>
                    <a:lnL w="6350" cap="flat" cmpd="sng" algn="ctr">
                      <a:solidFill>
                        <a:srgbClr val="E8EEF6"/>
                      </a:solidFill>
                      <a:prstDash val="solid"/>
                      <a:round/>
                      <a:headEnd type="none" w="med" len="med"/>
                      <a:tailEnd type="none" w="med" len="med"/>
                    </a:lnL>
                    <a:lnR w="6350" cap="flat" cmpd="sng" algn="ctr">
                      <a:solidFill>
                        <a:srgbClr val="E8EEF6"/>
                      </a:solidFill>
                      <a:prstDash val="solid"/>
                      <a:round/>
                      <a:headEnd type="none" w="med" len="med"/>
                      <a:tailEnd type="none" w="med" len="med"/>
                    </a:lnR>
                    <a:lnT w="6350" cap="flat" cmpd="sng" algn="ctr">
                      <a:solidFill>
                        <a:srgbClr val="E8EEF6"/>
                      </a:solidFill>
                      <a:prstDash val="solid"/>
                      <a:round/>
                      <a:headEnd type="none" w="med" len="med"/>
                      <a:tailEnd type="none" w="med" len="med"/>
                    </a:lnT>
                    <a:lnB w="6350" cap="flat" cmpd="sng" algn="ctr">
                      <a:solidFill>
                        <a:srgbClr val="E8EEF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lang="en-US" sz="1100" b="1" dirty="0">
                          <a:solidFill>
                            <a:srgbClr val="2C3E50"/>
                          </a:solidFill>
                        </a:rPr>
                        <a:t>Data Model</a:t>
                      </a:r>
                      <a:endParaRPr lang="en-US" sz="1100" dirty="0"/>
                    </a:p>
                  </a:txBody>
                  <a:tcPr>
                    <a:lnL w="6350" cap="flat" cmpd="sng" algn="ctr">
                      <a:solidFill>
                        <a:srgbClr val="E8EEF6"/>
                      </a:solidFill>
                      <a:prstDash val="solid"/>
                      <a:round/>
                      <a:headEnd type="none" w="med" len="med"/>
                      <a:tailEnd type="none" w="med" len="med"/>
                    </a:lnL>
                    <a:lnR w="6350" cap="flat" cmpd="sng" algn="ctr">
                      <a:solidFill>
                        <a:srgbClr val="E8EEF6"/>
                      </a:solidFill>
                      <a:prstDash val="solid"/>
                      <a:round/>
                      <a:headEnd type="none" w="med" len="med"/>
                      <a:tailEnd type="none" w="med" len="med"/>
                    </a:lnR>
                    <a:lnT w="6350" cap="flat" cmpd="sng" algn="ctr">
                      <a:solidFill>
                        <a:srgbClr val="E8EEF6"/>
                      </a:solidFill>
                      <a:prstDash val="solid"/>
                      <a:round/>
                      <a:headEnd type="none" w="med" len="med"/>
                      <a:tailEnd type="none" w="med" len="med"/>
                    </a:lnT>
                    <a:lnB w="6350" cap="flat" cmpd="sng" algn="ctr">
                      <a:solidFill>
                        <a:srgbClr val="E8EEF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C2B4A"/>
                          </a:solidFill>
                        </a:rPr>
                        <a:t>Normalized (3NF)</a:t>
                      </a:r>
                      <a:endParaRPr lang="en-US" sz="1100" dirty="0"/>
                    </a:p>
                  </a:txBody>
                  <a:tcPr>
                    <a:lnL w="6350" cap="flat" cmpd="sng" algn="ctr">
                      <a:solidFill>
                        <a:srgbClr val="E8EEF6"/>
                      </a:solidFill>
                      <a:prstDash val="solid"/>
                      <a:round/>
                      <a:headEnd type="none" w="med" len="med"/>
                      <a:tailEnd type="none" w="med" len="med"/>
                    </a:lnL>
                    <a:lnR w="6350" cap="flat" cmpd="sng" algn="ctr">
                      <a:solidFill>
                        <a:srgbClr val="E8EEF6"/>
                      </a:solidFill>
                      <a:prstDash val="solid"/>
                      <a:round/>
                      <a:headEnd type="none" w="med" len="med"/>
                      <a:tailEnd type="none" w="med" len="med"/>
                    </a:lnR>
                    <a:lnT w="6350" cap="flat" cmpd="sng" algn="ctr">
                      <a:solidFill>
                        <a:srgbClr val="E8EEF6"/>
                      </a:solidFill>
                      <a:prstDash val="solid"/>
                      <a:round/>
                      <a:headEnd type="none" w="med" len="med"/>
                      <a:tailEnd type="none" w="med" len="med"/>
                    </a:lnT>
                    <a:lnB w="6350" cap="flat" cmpd="sng" algn="ctr">
                      <a:solidFill>
                        <a:srgbClr val="E8EEF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C2B4A"/>
                          </a:solidFill>
                        </a:rPr>
                        <a:t>Dimensional (Star Schema)</a:t>
                      </a:r>
                      <a:endParaRPr lang="en-US" sz="1100" dirty="0"/>
                    </a:p>
                  </a:txBody>
                  <a:tcPr>
                    <a:lnL w="6350" cap="flat" cmpd="sng" algn="ctr">
                      <a:solidFill>
                        <a:srgbClr val="E8EEF6"/>
                      </a:solidFill>
                      <a:prstDash val="solid"/>
                      <a:round/>
                      <a:headEnd type="none" w="med" len="med"/>
                      <a:tailEnd type="none" w="med" len="med"/>
                    </a:lnL>
                    <a:lnR w="6350" cap="flat" cmpd="sng" algn="ctr">
                      <a:solidFill>
                        <a:srgbClr val="E8EEF6"/>
                      </a:solidFill>
                      <a:prstDash val="solid"/>
                      <a:round/>
                      <a:headEnd type="none" w="med" len="med"/>
                      <a:tailEnd type="none" w="med" len="med"/>
                    </a:lnR>
                    <a:lnT w="6350" cap="flat" cmpd="sng" algn="ctr">
                      <a:solidFill>
                        <a:srgbClr val="E8EEF6"/>
                      </a:solidFill>
                      <a:prstDash val="solid"/>
                      <a:round/>
                      <a:headEnd type="none" w="med" len="med"/>
                      <a:tailEnd type="none" w="med" len="med"/>
                    </a:lnT>
                    <a:lnB w="6350" cap="flat" cmpd="sng" algn="ctr">
                      <a:solidFill>
                        <a:srgbClr val="E8EEF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8912">
                <a:tc>
                  <a:txBody>
                    <a:bodyPr/>
                    <a:lstStyle/>
                    <a:p>
                      <a:pPr marL="0" indent="0">
                        <a:buNone/>
                      </a:pPr>
                      <a:r>
                        <a:rPr lang="en-US" sz="1100" b="1" dirty="0">
                          <a:solidFill>
                            <a:srgbClr val="2C3E50"/>
                          </a:solidFill>
                        </a:rPr>
                        <a:t>Data Scope</a:t>
                      </a:r>
                      <a:endParaRPr lang="en-US" sz="1100" dirty="0"/>
                    </a:p>
                  </a:txBody>
                  <a:tcPr>
                    <a:lnL w="6350" cap="flat" cmpd="sng" algn="ctr">
                      <a:solidFill>
                        <a:srgbClr val="E8EEF6"/>
                      </a:solidFill>
                      <a:prstDash val="solid"/>
                      <a:round/>
                      <a:headEnd type="none" w="med" len="med"/>
                      <a:tailEnd type="none" w="med" len="med"/>
                    </a:lnL>
                    <a:lnR w="6350" cap="flat" cmpd="sng" algn="ctr">
                      <a:solidFill>
                        <a:srgbClr val="E8EEF6"/>
                      </a:solidFill>
                      <a:prstDash val="solid"/>
                      <a:round/>
                      <a:headEnd type="none" w="med" len="med"/>
                      <a:tailEnd type="none" w="med" len="med"/>
                    </a:lnR>
                    <a:lnT w="6350" cap="flat" cmpd="sng" algn="ctr">
                      <a:solidFill>
                        <a:srgbClr val="E8EEF6"/>
                      </a:solidFill>
                      <a:prstDash val="solid"/>
                      <a:round/>
                      <a:headEnd type="none" w="med" len="med"/>
                      <a:tailEnd type="none" w="med" len="med"/>
                    </a:lnT>
                    <a:lnB w="6350" cap="flat" cmpd="sng" algn="ctr">
                      <a:solidFill>
                        <a:srgbClr val="E8EEF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C2B4A"/>
                          </a:solidFill>
                        </a:rPr>
                        <a:t>Current / real-time</a:t>
                      </a:r>
                      <a:endParaRPr lang="en-US" sz="1100" dirty="0"/>
                    </a:p>
                  </a:txBody>
                  <a:tcPr>
                    <a:lnL w="6350" cap="flat" cmpd="sng" algn="ctr">
                      <a:solidFill>
                        <a:srgbClr val="E8EEF6"/>
                      </a:solidFill>
                      <a:prstDash val="solid"/>
                      <a:round/>
                      <a:headEnd type="none" w="med" len="med"/>
                      <a:tailEnd type="none" w="med" len="med"/>
                    </a:lnL>
                    <a:lnR w="6350" cap="flat" cmpd="sng" algn="ctr">
                      <a:solidFill>
                        <a:srgbClr val="E8EEF6"/>
                      </a:solidFill>
                      <a:prstDash val="solid"/>
                      <a:round/>
                      <a:headEnd type="none" w="med" len="med"/>
                      <a:tailEnd type="none" w="med" len="med"/>
                    </a:lnR>
                    <a:lnT w="6350" cap="flat" cmpd="sng" algn="ctr">
                      <a:solidFill>
                        <a:srgbClr val="E8EEF6"/>
                      </a:solidFill>
                      <a:prstDash val="solid"/>
                      <a:round/>
                      <a:headEnd type="none" w="med" len="med"/>
                      <a:tailEnd type="none" w="med" len="med"/>
                    </a:lnT>
                    <a:lnB w="6350" cap="flat" cmpd="sng" algn="ctr">
                      <a:solidFill>
                        <a:srgbClr val="E8EEF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C2B4A"/>
                          </a:solidFill>
                        </a:rPr>
                        <a:t>Historical / aggregated</a:t>
                      </a:r>
                      <a:endParaRPr lang="en-US" sz="1100" dirty="0"/>
                    </a:p>
                  </a:txBody>
                  <a:tcPr>
                    <a:lnL w="6350" cap="flat" cmpd="sng" algn="ctr">
                      <a:solidFill>
                        <a:srgbClr val="E8EEF6"/>
                      </a:solidFill>
                      <a:prstDash val="solid"/>
                      <a:round/>
                      <a:headEnd type="none" w="med" len="med"/>
                      <a:tailEnd type="none" w="med" len="med"/>
                    </a:lnL>
                    <a:lnR w="6350" cap="flat" cmpd="sng" algn="ctr">
                      <a:solidFill>
                        <a:srgbClr val="E8EEF6"/>
                      </a:solidFill>
                      <a:prstDash val="solid"/>
                      <a:round/>
                      <a:headEnd type="none" w="med" len="med"/>
                      <a:tailEnd type="none" w="med" len="med"/>
                    </a:lnR>
                    <a:lnT w="6350" cap="flat" cmpd="sng" algn="ctr">
                      <a:solidFill>
                        <a:srgbClr val="E8EEF6"/>
                      </a:solidFill>
                      <a:prstDash val="solid"/>
                      <a:round/>
                      <a:headEnd type="none" w="med" len="med"/>
                      <a:tailEnd type="none" w="med" len="med"/>
                    </a:lnT>
                    <a:lnB w="6350" cap="flat" cmpd="sng" algn="ctr">
                      <a:solidFill>
                        <a:srgbClr val="E8EEF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buNone/>
                      </a:pPr>
                      <a:r>
                        <a:rPr lang="en-US" sz="1100" b="1" dirty="0">
                          <a:solidFill>
                            <a:srgbClr val="2C3E50"/>
                          </a:solidFill>
                        </a:rPr>
                        <a:t>Operations</a:t>
                      </a:r>
                      <a:endParaRPr lang="en-US" sz="1100" dirty="0"/>
                    </a:p>
                  </a:txBody>
                  <a:tcPr>
                    <a:lnL w="6350" cap="flat" cmpd="sng" algn="ctr">
                      <a:solidFill>
                        <a:srgbClr val="E8EEF6"/>
                      </a:solidFill>
                      <a:prstDash val="solid"/>
                      <a:round/>
                      <a:headEnd type="none" w="med" len="med"/>
                      <a:tailEnd type="none" w="med" len="med"/>
                    </a:lnL>
                    <a:lnR w="6350" cap="flat" cmpd="sng" algn="ctr">
                      <a:solidFill>
                        <a:srgbClr val="E8EEF6"/>
                      </a:solidFill>
                      <a:prstDash val="solid"/>
                      <a:round/>
                      <a:headEnd type="none" w="med" len="med"/>
                      <a:tailEnd type="none" w="med" len="med"/>
                    </a:lnR>
                    <a:lnT w="6350" cap="flat" cmpd="sng" algn="ctr">
                      <a:solidFill>
                        <a:srgbClr val="E8EEF6"/>
                      </a:solidFill>
                      <a:prstDash val="solid"/>
                      <a:round/>
                      <a:headEnd type="none" w="med" len="med"/>
                      <a:tailEnd type="none" w="med" len="med"/>
                    </a:lnT>
                    <a:lnB w="6350" cap="flat" cmpd="sng" algn="ctr">
                      <a:solidFill>
                        <a:srgbClr val="E8EEF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C2B4A"/>
                          </a:solidFill>
                        </a:rPr>
                        <a:t>INSERT / UPDATE / DELETE</a:t>
                      </a:r>
                      <a:endParaRPr lang="en-US" sz="1100" dirty="0"/>
                    </a:p>
                  </a:txBody>
                  <a:tcPr>
                    <a:lnL w="6350" cap="flat" cmpd="sng" algn="ctr">
                      <a:solidFill>
                        <a:srgbClr val="E8EEF6"/>
                      </a:solidFill>
                      <a:prstDash val="solid"/>
                      <a:round/>
                      <a:headEnd type="none" w="med" len="med"/>
                      <a:tailEnd type="none" w="med" len="med"/>
                    </a:lnL>
                    <a:lnR w="6350" cap="flat" cmpd="sng" algn="ctr">
                      <a:solidFill>
                        <a:srgbClr val="E8EEF6"/>
                      </a:solidFill>
                      <a:prstDash val="solid"/>
                      <a:round/>
                      <a:headEnd type="none" w="med" len="med"/>
                      <a:tailEnd type="none" w="med" len="med"/>
                    </a:lnR>
                    <a:lnT w="6350" cap="flat" cmpd="sng" algn="ctr">
                      <a:solidFill>
                        <a:srgbClr val="E8EEF6"/>
                      </a:solidFill>
                      <a:prstDash val="solid"/>
                      <a:round/>
                      <a:headEnd type="none" w="med" len="med"/>
                      <a:tailEnd type="none" w="med" len="med"/>
                    </a:lnT>
                    <a:lnB w="6350" cap="flat" cmpd="sng" algn="ctr">
                      <a:solidFill>
                        <a:srgbClr val="E8EEF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C2B4A"/>
                          </a:solidFill>
                        </a:rPr>
                        <a:t>SELECT / aggregate queries</a:t>
                      </a:r>
                      <a:endParaRPr lang="en-US" sz="1100" dirty="0"/>
                    </a:p>
                  </a:txBody>
                  <a:tcPr>
                    <a:lnL w="6350" cap="flat" cmpd="sng" algn="ctr">
                      <a:solidFill>
                        <a:srgbClr val="E8EEF6"/>
                      </a:solidFill>
                      <a:prstDash val="solid"/>
                      <a:round/>
                      <a:headEnd type="none" w="med" len="med"/>
                      <a:tailEnd type="none" w="med" len="med"/>
                    </a:lnL>
                    <a:lnR w="6350" cap="flat" cmpd="sng" algn="ctr">
                      <a:solidFill>
                        <a:srgbClr val="E8EEF6"/>
                      </a:solidFill>
                      <a:prstDash val="solid"/>
                      <a:round/>
                      <a:headEnd type="none" w="med" len="med"/>
                      <a:tailEnd type="none" w="med" len="med"/>
                    </a:lnR>
                    <a:lnT w="6350" cap="flat" cmpd="sng" algn="ctr">
                      <a:solidFill>
                        <a:srgbClr val="E8EEF6"/>
                      </a:solidFill>
                      <a:prstDash val="solid"/>
                      <a:round/>
                      <a:headEnd type="none" w="med" len="med"/>
                      <a:tailEnd type="none" w="med" len="med"/>
                    </a:lnT>
                    <a:lnB w="6350" cap="flat" cmpd="sng" algn="ctr">
                      <a:solidFill>
                        <a:srgbClr val="E8EEF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8912">
                <a:tc>
                  <a:txBody>
                    <a:bodyPr/>
                    <a:lstStyle/>
                    <a:p>
                      <a:pPr marL="0" indent="0">
                        <a:buNone/>
                      </a:pPr>
                      <a:r>
                        <a:rPr lang="en-US" sz="1100" b="1" dirty="0">
                          <a:solidFill>
                            <a:srgbClr val="2C3E50"/>
                          </a:solidFill>
                        </a:rPr>
                        <a:t>Users</a:t>
                      </a:r>
                      <a:endParaRPr lang="en-US" sz="1100" dirty="0"/>
                    </a:p>
                  </a:txBody>
                  <a:tcPr>
                    <a:lnL w="6350" cap="flat" cmpd="sng" algn="ctr">
                      <a:solidFill>
                        <a:srgbClr val="E8EEF6"/>
                      </a:solidFill>
                      <a:prstDash val="solid"/>
                      <a:round/>
                      <a:headEnd type="none" w="med" len="med"/>
                      <a:tailEnd type="none" w="med" len="med"/>
                    </a:lnL>
                    <a:lnR w="6350" cap="flat" cmpd="sng" algn="ctr">
                      <a:solidFill>
                        <a:srgbClr val="E8EEF6"/>
                      </a:solidFill>
                      <a:prstDash val="solid"/>
                      <a:round/>
                      <a:headEnd type="none" w="med" len="med"/>
                      <a:tailEnd type="none" w="med" len="med"/>
                    </a:lnR>
                    <a:lnT w="6350" cap="flat" cmpd="sng" algn="ctr">
                      <a:solidFill>
                        <a:srgbClr val="E8EEF6"/>
                      </a:solidFill>
                      <a:prstDash val="solid"/>
                      <a:round/>
                      <a:headEnd type="none" w="med" len="med"/>
                      <a:tailEnd type="none" w="med" len="med"/>
                    </a:lnT>
                    <a:lnB w="6350" cap="flat" cmpd="sng" algn="ctr">
                      <a:solidFill>
                        <a:srgbClr val="E8EEF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C2B4A"/>
                          </a:solidFill>
                        </a:rPr>
                        <a:t>Staff, cashiers, clerks</a:t>
                      </a:r>
                      <a:endParaRPr lang="en-US" sz="1100" dirty="0"/>
                    </a:p>
                  </a:txBody>
                  <a:tcPr>
                    <a:lnL w="6350" cap="flat" cmpd="sng" algn="ctr">
                      <a:solidFill>
                        <a:srgbClr val="E8EEF6"/>
                      </a:solidFill>
                      <a:prstDash val="solid"/>
                      <a:round/>
                      <a:headEnd type="none" w="med" len="med"/>
                      <a:tailEnd type="none" w="med" len="med"/>
                    </a:lnL>
                    <a:lnR w="6350" cap="flat" cmpd="sng" algn="ctr">
                      <a:solidFill>
                        <a:srgbClr val="E8EEF6"/>
                      </a:solidFill>
                      <a:prstDash val="solid"/>
                      <a:round/>
                      <a:headEnd type="none" w="med" len="med"/>
                      <a:tailEnd type="none" w="med" len="med"/>
                    </a:lnR>
                    <a:lnT w="6350" cap="flat" cmpd="sng" algn="ctr">
                      <a:solidFill>
                        <a:srgbClr val="E8EEF6"/>
                      </a:solidFill>
                      <a:prstDash val="solid"/>
                      <a:round/>
                      <a:headEnd type="none" w="med" len="med"/>
                      <a:tailEnd type="none" w="med" len="med"/>
                    </a:lnT>
                    <a:lnB w="6350" cap="flat" cmpd="sng" algn="ctr">
                      <a:solidFill>
                        <a:srgbClr val="E8EEF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C2B4A"/>
                          </a:solidFill>
                        </a:rPr>
                        <a:t>Managers, analysts, BI tools</a:t>
                      </a:r>
                      <a:endParaRPr lang="en-US" sz="1100" dirty="0"/>
                    </a:p>
                  </a:txBody>
                  <a:tcPr>
                    <a:lnL w="6350" cap="flat" cmpd="sng" algn="ctr">
                      <a:solidFill>
                        <a:srgbClr val="E8EEF6"/>
                      </a:solidFill>
                      <a:prstDash val="solid"/>
                      <a:round/>
                      <a:headEnd type="none" w="med" len="med"/>
                      <a:tailEnd type="none" w="med" len="med"/>
                    </a:lnL>
                    <a:lnR w="6350" cap="flat" cmpd="sng" algn="ctr">
                      <a:solidFill>
                        <a:srgbClr val="E8EEF6"/>
                      </a:solidFill>
                      <a:prstDash val="solid"/>
                      <a:round/>
                      <a:headEnd type="none" w="med" len="med"/>
                      <a:tailEnd type="none" w="med" len="med"/>
                    </a:lnR>
                    <a:lnT w="6350" cap="flat" cmpd="sng" algn="ctr">
                      <a:solidFill>
                        <a:srgbClr val="E8EEF6"/>
                      </a:solidFill>
                      <a:prstDash val="solid"/>
                      <a:round/>
                      <a:headEnd type="none" w="med" len="med"/>
                      <a:tailEnd type="none" w="med" len="med"/>
                    </a:lnT>
                    <a:lnB w="6350" cap="flat" cmpd="sng" algn="ctr">
                      <a:solidFill>
                        <a:srgbClr val="E8EEF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buNone/>
                      </a:pPr>
                      <a:r>
                        <a:rPr lang="en-US" sz="1100" b="1" dirty="0">
                          <a:solidFill>
                            <a:srgbClr val="2C3E50"/>
                          </a:solidFill>
                        </a:rPr>
                        <a:t>Performance Goal</a:t>
                      </a:r>
                      <a:endParaRPr lang="en-US" sz="1100" dirty="0"/>
                    </a:p>
                  </a:txBody>
                  <a:tcPr>
                    <a:lnL w="6350" cap="flat" cmpd="sng" algn="ctr">
                      <a:solidFill>
                        <a:srgbClr val="E8EEF6"/>
                      </a:solidFill>
                      <a:prstDash val="solid"/>
                      <a:round/>
                      <a:headEnd type="none" w="med" len="med"/>
                      <a:tailEnd type="none" w="med" len="med"/>
                    </a:lnL>
                    <a:lnR w="6350" cap="flat" cmpd="sng" algn="ctr">
                      <a:solidFill>
                        <a:srgbClr val="E8EEF6"/>
                      </a:solidFill>
                      <a:prstDash val="solid"/>
                      <a:round/>
                      <a:headEnd type="none" w="med" len="med"/>
                      <a:tailEnd type="none" w="med" len="med"/>
                    </a:lnR>
                    <a:lnT w="6350" cap="flat" cmpd="sng" algn="ctr">
                      <a:solidFill>
                        <a:srgbClr val="E8EEF6"/>
                      </a:solidFill>
                      <a:prstDash val="solid"/>
                      <a:round/>
                      <a:headEnd type="none" w="med" len="med"/>
                      <a:tailEnd type="none" w="med" len="med"/>
                    </a:lnT>
                    <a:lnB w="6350" cap="flat" cmpd="sng" algn="ctr">
                      <a:solidFill>
                        <a:srgbClr val="E8EEF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C2B4A"/>
                          </a:solidFill>
                        </a:rPr>
                        <a:t>Fast individual record access</a:t>
                      </a:r>
                      <a:endParaRPr lang="en-US" sz="1100" dirty="0"/>
                    </a:p>
                  </a:txBody>
                  <a:tcPr>
                    <a:lnL w="6350" cap="flat" cmpd="sng" algn="ctr">
                      <a:solidFill>
                        <a:srgbClr val="E8EEF6"/>
                      </a:solidFill>
                      <a:prstDash val="solid"/>
                      <a:round/>
                      <a:headEnd type="none" w="med" len="med"/>
                      <a:tailEnd type="none" w="med" len="med"/>
                    </a:lnL>
                    <a:lnR w="6350" cap="flat" cmpd="sng" algn="ctr">
                      <a:solidFill>
                        <a:srgbClr val="E8EEF6"/>
                      </a:solidFill>
                      <a:prstDash val="solid"/>
                      <a:round/>
                      <a:headEnd type="none" w="med" len="med"/>
                      <a:tailEnd type="none" w="med" len="med"/>
                    </a:lnR>
                    <a:lnT w="6350" cap="flat" cmpd="sng" algn="ctr">
                      <a:solidFill>
                        <a:srgbClr val="E8EEF6"/>
                      </a:solidFill>
                      <a:prstDash val="solid"/>
                      <a:round/>
                      <a:headEnd type="none" w="med" len="med"/>
                      <a:tailEnd type="none" w="med" len="med"/>
                    </a:lnT>
                    <a:lnB w="6350" cap="flat" cmpd="sng" algn="ctr">
                      <a:solidFill>
                        <a:srgbClr val="E8EEF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C2B4A"/>
                          </a:solidFill>
                        </a:rPr>
                        <a:t>Fast aggregation of millions of rows</a:t>
                      </a:r>
                      <a:endParaRPr lang="en-US" sz="1100" dirty="0"/>
                    </a:p>
                  </a:txBody>
                  <a:tcPr>
                    <a:lnL w="6350" cap="flat" cmpd="sng" algn="ctr">
                      <a:solidFill>
                        <a:srgbClr val="E8EEF6"/>
                      </a:solidFill>
                      <a:prstDash val="solid"/>
                      <a:round/>
                      <a:headEnd type="none" w="med" len="med"/>
                      <a:tailEnd type="none" w="med" len="med"/>
                    </a:lnL>
                    <a:lnR w="6350" cap="flat" cmpd="sng" algn="ctr">
                      <a:solidFill>
                        <a:srgbClr val="E8EEF6"/>
                      </a:solidFill>
                      <a:prstDash val="solid"/>
                      <a:round/>
                      <a:headEnd type="none" w="med" len="med"/>
                      <a:tailEnd type="none" w="med" len="med"/>
                    </a:lnR>
                    <a:lnT w="6350" cap="flat" cmpd="sng" algn="ctr">
                      <a:solidFill>
                        <a:srgbClr val="E8EEF6"/>
                      </a:solidFill>
                      <a:prstDash val="solid"/>
                      <a:round/>
                      <a:headEnd type="none" w="med" len="med"/>
                      <a:tailEnd type="none" w="med" len="med"/>
                    </a:lnT>
                    <a:lnB w="6350" cap="flat" cmpd="sng" algn="ctr">
                      <a:solidFill>
                        <a:srgbClr val="E8EEF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11480" y="274320"/>
            <a:ext cx="64008" cy="685800"/>
          </a:xfrm>
          <a:prstGeom prst="rect">
            <a:avLst/>
          </a:prstGeom>
          <a:solidFill>
            <a:srgbClr val="3A7BD5"/>
          </a:solidFill>
          <a:ln/>
        </p:spPr>
      </p:sp>
      <p:sp>
        <p:nvSpPr>
          <p:cNvPr id="3" name="Text 1"/>
          <p:cNvSpPr/>
          <p:nvPr/>
        </p:nvSpPr>
        <p:spPr>
          <a:xfrm>
            <a:off x="566928" y="256032"/>
            <a:ext cx="7772400" cy="731520"/>
          </a:xfrm>
          <a:prstGeom prst="rect">
            <a:avLst/>
          </a:prstGeom>
          <a:noFill/>
          <a:ln/>
        </p:spPr>
        <p:txBody>
          <a:bodyPr wrap="square" lIns="0" tIns="0" rIns="0" bIns="0" rtlCol="0" anchor="ctr"/>
          <a:lstStyle/>
          <a:p>
            <a:pPr marL="0" indent="0">
              <a:buNone/>
            </a:pPr>
            <a:r>
              <a:rPr lang="en-US" sz="2600" b="1" dirty="0">
                <a:solidFill>
                  <a:srgbClr val="1A2F5E"/>
                </a:solidFill>
                <a:latin typeface="Calibri" pitchFamily="34" charset="0"/>
                <a:ea typeface="Calibri" pitchFamily="34" charset="-122"/>
                <a:cs typeface="Calibri" pitchFamily="34" charset="-120"/>
              </a:rPr>
              <a:t>Business Questions the DW Can Answer</a:t>
            </a:r>
            <a:endParaRPr lang="en-US" sz="2600" dirty="0"/>
          </a:p>
        </p:txBody>
      </p:sp>
      <p:pic>
        <p:nvPicPr>
          <p:cNvPr id="4" name="Image 0" descr="preencoded.png"/>
          <p:cNvPicPr>
            <a:picLocks noChangeAspect="1"/>
          </p:cNvPicPr>
          <p:nvPr/>
        </p:nvPicPr>
        <p:blipFill>
          <a:blip r:embed="rId3"/>
          <a:stretch>
            <a:fillRect/>
          </a:stretch>
        </p:blipFill>
        <p:spPr>
          <a:xfrm>
            <a:off x="8321040" y="201168"/>
            <a:ext cx="502920" cy="502920"/>
          </a:xfrm>
          <a:prstGeom prst="rect">
            <a:avLst/>
          </a:prstGeom>
        </p:spPr>
      </p:pic>
      <p:sp>
        <p:nvSpPr>
          <p:cNvPr id="5" name="Shape 2"/>
          <p:cNvSpPr/>
          <p:nvPr/>
        </p:nvSpPr>
        <p:spPr>
          <a:xfrm>
            <a:off x="411480" y="1033272"/>
            <a:ext cx="8321040" cy="16459"/>
          </a:xfrm>
          <a:prstGeom prst="rect">
            <a:avLst/>
          </a:prstGeom>
          <a:solidFill>
            <a:srgbClr val="E8EEF6"/>
          </a:solidFill>
          <a:ln/>
        </p:spPr>
      </p:sp>
      <p:sp>
        <p:nvSpPr>
          <p:cNvPr id="6" name="Text 3"/>
          <p:cNvSpPr/>
          <p:nvPr/>
        </p:nvSpPr>
        <p:spPr>
          <a:xfrm>
            <a:off x="8046720" y="4754880"/>
            <a:ext cx="822960" cy="228600"/>
          </a:xfrm>
          <a:prstGeom prst="rect">
            <a:avLst/>
          </a:prstGeom>
          <a:noFill/>
          <a:ln/>
        </p:spPr>
        <p:txBody>
          <a:bodyPr wrap="square" lIns="0" tIns="0" rIns="0" bIns="0" rtlCol="0" anchor="ctr"/>
          <a:lstStyle/>
          <a:p>
            <a:pPr marL="0" indent="0" algn="r">
              <a:buNone/>
            </a:pPr>
            <a:r>
              <a:rPr lang="en-US" sz="900" dirty="0">
                <a:solidFill>
                  <a:srgbClr val="8A9BB5"/>
                </a:solidFill>
              </a:rPr>
              <a:t>4 / 11</a:t>
            </a:r>
            <a:endParaRPr lang="en-US" sz="900" dirty="0"/>
          </a:p>
        </p:txBody>
      </p:sp>
      <p:sp>
        <p:nvSpPr>
          <p:cNvPr id="7" name="Shape 4"/>
          <p:cNvSpPr/>
          <p:nvPr/>
        </p:nvSpPr>
        <p:spPr>
          <a:xfrm>
            <a:off x="411480" y="1188720"/>
            <a:ext cx="2697480" cy="1600200"/>
          </a:xfrm>
          <a:prstGeom prst="rect">
            <a:avLst/>
          </a:prstGeom>
          <a:solidFill>
            <a:srgbClr val="FFFFFF"/>
          </a:solidFill>
          <a:ln/>
          <a:effectLst>
            <a:outerShdw blurRad="127000" dist="25400" dir="8100000" algn="bl" rotWithShape="0">
              <a:srgbClr val="000000">
                <a:alpha val="10000"/>
              </a:srgbClr>
            </a:outerShdw>
          </a:effectLst>
        </p:spPr>
      </p:sp>
      <p:sp>
        <p:nvSpPr>
          <p:cNvPr id="8" name="Shape 5"/>
          <p:cNvSpPr/>
          <p:nvPr/>
        </p:nvSpPr>
        <p:spPr>
          <a:xfrm>
            <a:off x="411480" y="1188720"/>
            <a:ext cx="2697480" cy="73152"/>
          </a:xfrm>
          <a:prstGeom prst="rect">
            <a:avLst/>
          </a:prstGeom>
          <a:solidFill>
            <a:srgbClr val="1A2F5E"/>
          </a:solidFill>
          <a:ln/>
        </p:spPr>
      </p:sp>
      <p:sp>
        <p:nvSpPr>
          <p:cNvPr id="9" name="Shape 6"/>
          <p:cNvSpPr/>
          <p:nvPr/>
        </p:nvSpPr>
        <p:spPr>
          <a:xfrm>
            <a:off x="576072" y="1353312"/>
            <a:ext cx="502920" cy="502920"/>
          </a:xfrm>
          <a:prstGeom prst="ellipse">
            <a:avLst/>
          </a:prstGeom>
          <a:solidFill>
            <a:srgbClr val="1A2F5E"/>
          </a:solidFill>
          <a:ln/>
        </p:spPr>
      </p:sp>
      <p:pic>
        <p:nvPicPr>
          <p:cNvPr id="10" name="Image 1" descr="preencoded.png"/>
          <p:cNvPicPr>
            <a:picLocks noChangeAspect="1"/>
          </p:cNvPicPr>
          <p:nvPr/>
        </p:nvPicPr>
        <p:blipFill>
          <a:blip r:embed="rId4"/>
          <a:stretch>
            <a:fillRect/>
          </a:stretch>
        </p:blipFill>
        <p:spPr>
          <a:xfrm>
            <a:off x="612648" y="1389888"/>
            <a:ext cx="411480" cy="411480"/>
          </a:xfrm>
          <a:prstGeom prst="rect">
            <a:avLst/>
          </a:prstGeom>
        </p:spPr>
      </p:pic>
      <p:sp>
        <p:nvSpPr>
          <p:cNvPr id="11" name="Text 7"/>
          <p:cNvSpPr/>
          <p:nvPr/>
        </p:nvSpPr>
        <p:spPr>
          <a:xfrm>
            <a:off x="576072" y="1938528"/>
            <a:ext cx="2368296" cy="749808"/>
          </a:xfrm>
          <a:prstGeom prst="rect">
            <a:avLst/>
          </a:prstGeom>
          <a:noFill/>
          <a:ln/>
        </p:spPr>
        <p:txBody>
          <a:bodyPr wrap="square" lIns="0" tIns="0" rIns="0" bIns="0" rtlCol="0" anchor="t"/>
          <a:lstStyle/>
          <a:p>
            <a:pPr marL="0" indent="0" algn="ctr">
              <a:buNone/>
            </a:pPr>
            <a:r>
              <a:rPr lang="en-US" sz="1150" dirty="0">
                <a:solidFill>
                  <a:srgbClr val="1C2B4A"/>
                </a:solidFill>
                <a:latin typeface="Calibri" pitchFamily="34" charset="0"/>
                <a:ea typeface="Calibri" pitchFamily="34" charset="-122"/>
                <a:cs typeface="Calibri" pitchFamily="34" charset="-120"/>
              </a:rPr>
              <a:t>Which movies generate the most revenue?</a:t>
            </a:r>
            <a:endParaRPr lang="en-US" sz="1150" dirty="0"/>
          </a:p>
        </p:txBody>
      </p:sp>
      <p:sp>
        <p:nvSpPr>
          <p:cNvPr id="12" name="Shape 8"/>
          <p:cNvSpPr/>
          <p:nvPr/>
        </p:nvSpPr>
        <p:spPr>
          <a:xfrm>
            <a:off x="3273552" y="1188720"/>
            <a:ext cx="2697480" cy="1600200"/>
          </a:xfrm>
          <a:prstGeom prst="rect">
            <a:avLst/>
          </a:prstGeom>
          <a:solidFill>
            <a:srgbClr val="FFFFFF"/>
          </a:solidFill>
          <a:ln/>
          <a:effectLst>
            <a:outerShdw blurRad="127000" dist="25400" dir="8100000" algn="bl" rotWithShape="0">
              <a:srgbClr val="000000">
                <a:alpha val="10000"/>
              </a:srgbClr>
            </a:outerShdw>
          </a:effectLst>
        </p:spPr>
      </p:sp>
      <p:sp>
        <p:nvSpPr>
          <p:cNvPr id="13" name="Shape 9"/>
          <p:cNvSpPr/>
          <p:nvPr/>
        </p:nvSpPr>
        <p:spPr>
          <a:xfrm>
            <a:off x="3273552" y="1188720"/>
            <a:ext cx="2697480" cy="73152"/>
          </a:xfrm>
          <a:prstGeom prst="rect">
            <a:avLst/>
          </a:prstGeom>
          <a:solidFill>
            <a:srgbClr val="3A7BD5"/>
          </a:solidFill>
          <a:ln/>
        </p:spPr>
      </p:sp>
      <p:sp>
        <p:nvSpPr>
          <p:cNvPr id="14" name="Shape 10"/>
          <p:cNvSpPr/>
          <p:nvPr/>
        </p:nvSpPr>
        <p:spPr>
          <a:xfrm>
            <a:off x="3438144" y="1353312"/>
            <a:ext cx="502920" cy="502920"/>
          </a:xfrm>
          <a:prstGeom prst="ellipse">
            <a:avLst/>
          </a:prstGeom>
          <a:solidFill>
            <a:srgbClr val="3A7BD5"/>
          </a:solidFill>
          <a:ln/>
        </p:spPr>
      </p:sp>
      <p:pic>
        <p:nvPicPr>
          <p:cNvPr id="15" name="Image 2" descr="preencoded.png"/>
          <p:cNvPicPr>
            <a:picLocks noChangeAspect="1"/>
          </p:cNvPicPr>
          <p:nvPr/>
        </p:nvPicPr>
        <p:blipFill>
          <a:blip r:embed="rId5"/>
          <a:stretch>
            <a:fillRect/>
          </a:stretch>
        </p:blipFill>
        <p:spPr>
          <a:xfrm>
            <a:off x="3474720" y="1389888"/>
            <a:ext cx="411480" cy="411480"/>
          </a:xfrm>
          <a:prstGeom prst="rect">
            <a:avLst/>
          </a:prstGeom>
        </p:spPr>
      </p:pic>
      <p:sp>
        <p:nvSpPr>
          <p:cNvPr id="16" name="Text 11"/>
          <p:cNvSpPr/>
          <p:nvPr/>
        </p:nvSpPr>
        <p:spPr>
          <a:xfrm>
            <a:off x="3438144" y="1938528"/>
            <a:ext cx="2368296" cy="749808"/>
          </a:xfrm>
          <a:prstGeom prst="rect">
            <a:avLst/>
          </a:prstGeom>
          <a:noFill/>
          <a:ln/>
        </p:spPr>
        <p:txBody>
          <a:bodyPr wrap="square" lIns="0" tIns="0" rIns="0" bIns="0" rtlCol="0" anchor="t"/>
          <a:lstStyle/>
          <a:p>
            <a:pPr marL="0" indent="0" algn="ctr">
              <a:buNone/>
            </a:pPr>
            <a:r>
              <a:rPr lang="en-US" sz="1150" dirty="0">
                <a:solidFill>
                  <a:srgbClr val="1C2B4A"/>
                </a:solidFill>
                <a:latin typeface="Calibri" pitchFamily="34" charset="0"/>
                <a:ea typeface="Calibri" pitchFamily="34" charset="-122"/>
                <a:cs typeface="Calibri" pitchFamily="34" charset="-120"/>
              </a:rPr>
              <a:t>Which rental categories are most popular?</a:t>
            </a:r>
            <a:endParaRPr lang="en-US" sz="1150" dirty="0"/>
          </a:p>
        </p:txBody>
      </p:sp>
      <p:sp>
        <p:nvSpPr>
          <p:cNvPr id="17" name="Shape 12"/>
          <p:cNvSpPr/>
          <p:nvPr/>
        </p:nvSpPr>
        <p:spPr>
          <a:xfrm>
            <a:off x="6135624" y="1188720"/>
            <a:ext cx="2697480" cy="1600200"/>
          </a:xfrm>
          <a:prstGeom prst="rect">
            <a:avLst/>
          </a:prstGeom>
          <a:solidFill>
            <a:srgbClr val="FFFFFF"/>
          </a:solidFill>
          <a:ln/>
          <a:effectLst>
            <a:outerShdw blurRad="127000" dist="25400" dir="8100000" algn="bl" rotWithShape="0">
              <a:srgbClr val="000000">
                <a:alpha val="10000"/>
              </a:srgbClr>
            </a:outerShdw>
          </a:effectLst>
        </p:spPr>
      </p:sp>
      <p:sp>
        <p:nvSpPr>
          <p:cNvPr id="18" name="Shape 13"/>
          <p:cNvSpPr/>
          <p:nvPr/>
        </p:nvSpPr>
        <p:spPr>
          <a:xfrm>
            <a:off x="6135624" y="1188720"/>
            <a:ext cx="2697480" cy="73152"/>
          </a:xfrm>
          <a:prstGeom prst="rect">
            <a:avLst/>
          </a:prstGeom>
          <a:solidFill>
            <a:srgbClr val="1A7A9A"/>
          </a:solidFill>
          <a:ln/>
        </p:spPr>
      </p:sp>
      <p:sp>
        <p:nvSpPr>
          <p:cNvPr id="19" name="Shape 14"/>
          <p:cNvSpPr/>
          <p:nvPr/>
        </p:nvSpPr>
        <p:spPr>
          <a:xfrm>
            <a:off x="6300216" y="1353312"/>
            <a:ext cx="502920" cy="502920"/>
          </a:xfrm>
          <a:prstGeom prst="ellipse">
            <a:avLst/>
          </a:prstGeom>
          <a:solidFill>
            <a:srgbClr val="1A7A9A"/>
          </a:solidFill>
          <a:ln/>
        </p:spPr>
      </p:sp>
      <p:pic>
        <p:nvPicPr>
          <p:cNvPr id="20" name="Image 3" descr="preencoded.png"/>
          <p:cNvPicPr>
            <a:picLocks noChangeAspect="1"/>
          </p:cNvPicPr>
          <p:nvPr/>
        </p:nvPicPr>
        <p:blipFill>
          <a:blip r:embed="rId6"/>
          <a:stretch>
            <a:fillRect/>
          </a:stretch>
        </p:blipFill>
        <p:spPr>
          <a:xfrm>
            <a:off x="6336792" y="1389888"/>
            <a:ext cx="411480" cy="411480"/>
          </a:xfrm>
          <a:prstGeom prst="rect">
            <a:avLst/>
          </a:prstGeom>
        </p:spPr>
      </p:pic>
      <p:sp>
        <p:nvSpPr>
          <p:cNvPr id="21" name="Text 15"/>
          <p:cNvSpPr/>
          <p:nvPr/>
        </p:nvSpPr>
        <p:spPr>
          <a:xfrm>
            <a:off x="6300216" y="1938528"/>
            <a:ext cx="2368296" cy="749808"/>
          </a:xfrm>
          <a:prstGeom prst="rect">
            <a:avLst/>
          </a:prstGeom>
          <a:noFill/>
          <a:ln/>
        </p:spPr>
        <p:txBody>
          <a:bodyPr wrap="square" lIns="0" tIns="0" rIns="0" bIns="0" rtlCol="0" anchor="t"/>
          <a:lstStyle/>
          <a:p>
            <a:pPr marL="0" indent="0" algn="ctr">
              <a:buNone/>
            </a:pPr>
            <a:r>
              <a:rPr lang="en-US" sz="1150" dirty="0">
                <a:solidFill>
                  <a:srgbClr val="1C2B4A"/>
                </a:solidFill>
                <a:latin typeface="Calibri" pitchFamily="34" charset="0"/>
                <a:ea typeface="Calibri" pitchFamily="34" charset="-122"/>
                <a:cs typeface="Calibri" pitchFamily="34" charset="-120"/>
              </a:rPr>
              <a:t>Which stores and staff perform best?</a:t>
            </a:r>
            <a:endParaRPr lang="en-US" sz="1150" dirty="0"/>
          </a:p>
        </p:txBody>
      </p:sp>
      <p:sp>
        <p:nvSpPr>
          <p:cNvPr id="22" name="Shape 16"/>
          <p:cNvSpPr/>
          <p:nvPr/>
        </p:nvSpPr>
        <p:spPr>
          <a:xfrm>
            <a:off x="411480" y="2926080"/>
            <a:ext cx="2697480" cy="1600200"/>
          </a:xfrm>
          <a:prstGeom prst="rect">
            <a:avLst/>
          </a:prstGeom>
          <a:solidFill>
            <a:srgbClr val="FFFFFF"/>
          </a:solidFill>
          <a:ln/>
          <a:effectLst>
            <a:outerShdw blurRad="127000" dist="25400" dir="8100000" algn="bl" rotWithShape="0">
              <a:srgbClr val="000000">
                <a:alpha val="10000"/>
              </a:srgbClr>
            </a:outerShdw>
          </a:effectLst>
        </p:spPr>
      </p:sp>
      <p:sp>
        <p:nvSpPr>
          <p:cNvPr id="23" name="Shape 17"/>
          <p:cNvSpPr/>
          <p:nvPr/>
        </p:nvSpPr>
        <p:spPr>
          <a:xfrm>
            <a:off x="411480" y="2926080"/>
            <a:ext cx="2697480" cy="73152"/>
          </a:xfrm>
          <a:prstGeom prst="rect">
            <a:avLst/>
          </a:prstGeom>
          <a:solidFill>
            <a:srgbClr val="E8A917"/>
          </a:solidFill>
          <a:ln/>
        </p:spPr>
      </p:sp>
      <p:sp>
        <p:nvSpPr>
          <p:cNvPr id="24" name="Shape 18"/>
          <p:cNvSpPr/>
          <p:nvPr/>
        </p:nvSpPr>
        <p:spPr>
          <a:xfrm>
            <a:off x="576072" y="3090672"/>
            <a:ext cx="502920" cy="502920"/>
          </a:xfrm>
          <a:prstGeom prst="ellipse">
            <a:avLst/>
          </a:prstGeom>
          <a:solidFill>
            <a:srgbClr val="E8A917"/>
          </a:solidFill>
          <a:ln/>
        </p:spPr>
      </p:sp>
      <p:pic>
        <p:nvPicPr>
          <p:cNvPr id="25" name="Image 4" descr="preencoded.png"/>
          <p:cNvPicPr>
            <a:picLocks noChangeAspect="1"/>
          </p:cNvPicPr>
          <p:nvPr/>
        </p:nvPicPr>
        <p:blipFill>
          <a:blip r:embed="rId7"/>
          <a:stretch>
            <a:fillRect/>
          </a:stretch>
        </p:blipFill>
        <p:spPr>
          <a:xfrm>
            <a:off x="612648" y="3127248"/>
            <a:ext cx="411480" cy="411480"/>
          </a:xfrm>
          <a:prstGeom prst="rect">
            <a:avLst/>
          </a:prstGeom>
        </p:spPr>
      </p:pic>
      <p:sp>
        <p:nvSpPr>
          <p:cNvPr id="26" name="Text 19"/>
          <p:cNvSpPr/>
          <p:nvPr/>
        </p:nvSpPr>
        <p:spPr>
          <a:xfrm>
            <a:off x="576072" y="3675888"/>
            <a:ext cx="2368296" cy="749808"/>
          </a:xfrm>
          <a:prstGeom prst="rect">
            <a:avLst/>
          </a:prstGeom>
          <a:noFill/>
          <a:ln/>
        </p:spPr>
        <p:txBody>
          <a:bodyPr wrap="square" lIns="0" tIns="0" rIns="0" bIns="0" rtlCol="0" anchor="t"/>
          <a:lstStyle/>
          <a:p>
            <a:pPr marL="0" indent="0" algn="ctr">
              <a:buNone/>
            </a:pPr>
            <a:r>
              <a:rPr lang="en-US" sz="1150" dirty="0">
                <a:solidFill>
                  <a:srgbClr val="1C2B4A"/>
                </a:solidFill>
                <a:latin typeface="Calibri" pitchFamily="34" charset="0"/>
                <a:ea typeface="Calibri" pitchFamily="34" charset="-122"/>
                <a:cs typeface="Calibri" pitchFamily="34" charset="-120"/>
              </a:rPr>
              <a:t>How does revenue change over time?</a:t>
            </a:r>
            <a:endParaRPr lang="en-US" sz="1150" dirty="0"/>
          </a:p>
        </p:txBody>
      </p:sp>
      <p:sp>
        <p:nvSpPr>
          <p:cNvPr id="27" name="Shape 20"/>
          <p:cNvSpPr/>
          <p:nvPr/>
        </p:nvSpPr>
        <p:spPr>
          <a:xfrm>
            <a:off x="3273552" y="2926080"/>
            <a:ext cx="2697480" cy="1600200"/>
          </a:xfrm>
          <a:prstGeom prst="rect">
            <a:avLst/>
          </a:prstGeom>
          <a:solidFill>
            <a:srgbClr val="FFFFFF"/>
          </a:solidFill>
          <a:ln/>
          <a:effectLst>
            <a:outerShdw blurRad="127000" dist="25400" dir="8100000" algn="bl" rotWithShape="0">
              <a:srgbClr val="000000">
                <a:alpha val="10000"/>
              </a:srgbClr>
            </a:outerShdw>
          </a:effectLst>
        </p:spPr>
      </p:sp>
      <p:sp>
        <p:nvSpPr>
          <p:cNvPr id="28" name="Shape 21"/>
          <p:cNvSpPr/>
          <p:nvPr/>
        </p:nvSpPr>
        <p:spPr>
          <a:xfrm>
            <a:off x="3273552" y="2926080"/>
            <a:ext cx="2697480" cy="73152"/>
          </a:xfrm>
          <a:prstGeom prst="rect">
            <a:avLst/>
          </a:prstGeom>
          <a:solidFill>
            <a:srgbClr val="27AE60"/>
          </a:solidFill>
          <a:ln/>
        </p:spPr>
      </p:sp>
      <p:sp>
        <p:nvSpPr>
          <p:cNvPr id="29" name="Shape 22"/>
          <p:cNvSpPr/>
          <p:nvPr/>
        </p:nvSpPr>
        <p:spPr>
          <a:xfrm>
            <a:off x="3438144" y="3090672"/>
            <a:ext cx="502920" cy="502920"/>
          </a:xfrm>
          <a:prstGeom prst="ellipse">
            <a:avLst/>
          </a:prstGeom>
          <a:solidFill>
            <a:srgbClr val="27AE60"/>
          </a:solidFill>
          <a:ln/>
        </p:spPr>
      </p:sp>
      <p:pic>
        <p:nvPicPr>
          <p:cNvPr id="30" name="Image 5" descr="preencoded.png"/>
          <p:cNvPicPr>
            <a:picLocks noChangeAspect="1"/>
          </p:cNvPicPr>
          <p:nvPr/>
        </p:nvPicPr>
        <p:blipFill>
          <a:blip r:embed="rId8"/>
          <a:stretch>
            <a:fillRect/>
          </a:stretch>
        </p:blipFill>
        <p:spPr>
          <a:xfrm>
            <a:off x="3474720" y="3127248"/>
            <a:ext cx="411480" cy="411480"/>
          </a:xfrm>
          <a:prstGeom prst="rect">
            <a:avLst/>
          </a:prstGeom>
        </p:spPr>
      </p:pic>
      <p:sp>
        <p:nvSpPr>
          <p:cNvPr id="31" name="Text 23"/>
          <p:cNvSpPr/>
          <p:nvPr/>
        </p:nvSpPr>
        <p:spPr>
          <a:xfrm>
            <a:off x="3438144" y="3675888"/>
            <a:ext cx="2368296" cy="749808"/>
          </a:xfrm>
          <a:prstGeom prst="rect">
            <a:avLst/>
          </a:prstGeom>
          <a:noFill/>
          <a:ln/>
        </p:spPr>
        <p:txBody>
          <a:bodyPr wrap="square" lIns="0" tIns="0" rIns="0" bIns="0" rtlCol="0" anchor="t"/>
          <a:lstStyle/>
          <a:p>
            <a:pPr marL="0" indent="0" algn="ctr">
              <a:buNone/>
            </a:pPr>
            <a:r>
              <a:rPr lang="en-US" sz="1150" dirty="0">
                <a:solidFill>
                  <a:srgbClr val="1C2B4A"/>
                </a:solidFill>
                <a:latin typeface="Calibri" pitchFamily="34" charset="0"/>
                <a:ea typeface="Calibri" pitchFamily="34" charset="-122"/>
                <a:cs typeface="Calibri" pitchFamily="34" charset="-120"/>
              </a:rPr>
              <a:t>Who are our most valuable customers?</a:t>
            </a:r>
            <a:endParaRPr lang="en-US" sz="1150" dirty="0"/>
          </a:p>
        </p:txBody>
      </p:sp>
      <p:sp>
        <p:nvSpPr>
          <p:cNvPr id="32" name="Shape 24"/>
          <p:cNvSpPr/>
          <p:nvPr/>
        </p:nvSpPr>
        <p:spPr>
          <a:xfrm>
            <a:off x="6135624" y="2926080"/>
            <a:ext cx="2697480" cy="1600200"/>
          </a:xfrm>
          <a:prstGeom prst="rect">
            <a:avLst/>
          </a:prstGeom>
          <a:solidFill>
            <a:srgbClr val="FFFFFF"/>
          </a:solidFill>
          <a:ln/>
          <a:effectLst>
            <a:outerShdw blurRad="127000" dist="25400" dir="8100000" algn="bl" rotWithShape="0">
              <a:srgbClr val="000000">
                <a:alpha val="10000"/>
              </a:srgbClr>
            </a:outerShdw>
          </a:effectLst>
        </p:spPr>
      </p:sp>
      <p:sp>
        <p:nvSpPr>
          <p:cNvPr id="33" name="Shape 25"/>
          <p:cNvSpPr/>
          <p:nvPr/>
        </p:nvSpPr>
        <p:spPr>
          <a:xfrm>
            <a:off x="6135624" y="2926080"/>
            <a:ext cx="2697480" cy="73152"/>
          </a:xfrm>
          <a:prstGeom prst="rect">
            <a:avLst/>
          </a:prstGeom>
          <a:solidFill>
            <a:srgbClr val="8E44AD"/>
          </a:solidFill>
          <a:ln/>
        </p:spPr>
      </p:sp>
      <p:sp>
        <p:nvSpPr>
          <p:cNvPr id="34" name="Shape 26"/>
          <p:cNvSpPr/>
          <p:nvPr/>
        </p:nvSpPr>
        <p:spPr>
          <a:xfrm>
            <a:off x="6300216" y="3090672"/>
            <a:ext cx="502920" cy="502920"/>
          </a:xfrm>
          <a:prstGeom prst="ellipse">
            <a:avLst/>
          </a:prstGeom>
          <a:solidFill>
            <a:srgbClr val="8E44AD"/>
          </a:solidFill>
          <a:ln/>
        </p:spPr>
      </p:sp>
      <p:pic>
        <p:nvPicPr>
          <p:cNvPr id="35" name="Image 6" descr="preencoded.png"/>
          <p:cNvPicPr>
            <a:picLocks noChangeAspect="1"/>
          </p:cNvPicPr>
          <p:nvPr/>
        </p:nvPicPr>
        <p:blipFill>
          <a:blip r:embed="rId9"/>
          <a:stretch>
            <a:fillRect/>
          </a:stretch>
        </p:blipFill>
        <p:spPr>
          <a:xfrm>
            <a:off x="6336792" y="3127248"/>
            <a:ext cx="411480" cy="411480"/>
          </a:xfrm>
          <a:prstGeom prst="rect">
            <a:avLst/>
          </a:prstGeom>
        </p:spPr>
      </p:pic>
      <p:sp>
        <p:nvSpPr>
          <p:cNvPr id="36" name="Text 27"/>
          <p:cNvSpPr/>
          <p:nvPr/>
        </p:nvSpPr>
        <p:spPr>
          <a:xfrm>
            <a:off x="6300216" y="3675888"/>
            <a:ext cx="2368296" cy="749808"/>
          </a:xfrm>
          <a:prstGeom prst="rect">
            <a:avLst/>
          </a:prstGeom>
          <a:noFill/>
          <a:ln/>
        </p:spPr>
        <p:txBody>
          <a:bodyPr wrap="square" lIns="0" tIns="0" rIns="0" bIns="0" rtlCol="0" anchor="t"/>
          <a:lstStyle/>
          <a:p>
            <a:pPr marL="0" indent="0" algn="ctr">
              <a:buNone/>
            </a:pPr>
            <a:r>
              <a:rPr lang="en-US" sz="1150" dirty="0">
                <a:solidFill>
                  <a:srgbClr val="1C2B4A"/>
                </a:solidFill>
                <a:latin typeface="Calibri" pitchFamily="34" charset="0"/>
                <a:ea typeface="Calibri" pitchFamily="34" charset="-122"/>
                <a:cs typeface="Calibri" pitchFamily="34" charset="-120"/>
              </a:rPr>
              <a:t>What are peak rental periods and seasons?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11480" y="274320"/>
            <a:ext cx="64008" cy="685800"/>
          </a:xfrm>
          <a:prstGeom prst="rect">
            <a:avLst/>
          </a:prstGeom>
          <a:solidFill>
            <a:srgbClr val="3A7BD5"/>
          </a:solidFill>
          <a:ln/>
        </p:spPr>
      </p:sp>
      <p:sp>
        <p:nvSpPr>
          <p:cNvPr id="3" name="Text 1"/>
          <p:cNvSpPr/>
          <p:nvPr/>
        </p:nvSpPr>
        <p:spPr>
          <a:xfrm>
            <a:off x="566928" y="256032"/>
            <a:ext cx="7772400" cy="731520"/>
          </a:xfrm>
          <a:prstGeom prst="rect">
            <a:avLst/>
          </a:prstGeom>
          <a:noFill/>
          <a:ln/>
        </p:spPr>
        <p:txBody>
          <a:bodyPr wrap="square" lIns="0" tIns="0" rIns="0" bIns="0" rtlCol="0" anchor="ctr"/>
          <a:lstStyle/>
          <a:p>
            <a:pPr marL="0" indent="0">
              <a:buNone/>
            </a:pPr>
            <a:r>
              <a:rPr lang="en-US" sz="2600" b="1" dirty="0">
                <a:solidFill>
                  <a:srgbClr val="1A2F5E"/>
                </a:solidFill>
                <a:latin typeface="Calibri" pitchFamily="34" charset="0"/>
                <a:ea typeface="Calibri" pitchFamily="34" charset="-122"/>
                <a:cs typeface="Calibri" pitchFamily="34" charset="-120"/>
              </a:rPr>
              <a:t>Dimensional Model — Star Schema</a:t>
            </a:r>
            <a:endParaRPr lang="en-US" sz="2600" dirty="0"/>
          </a:p>
        </p:txBody>
      </p:sp>
      <p:pic>
        <p:nvPicPr>
          <p:cNvPr id="4" name="Image 0" descr="preencoded.png"/>
          <p:cNvPicPr>
            <a:picLocks noChangeAspect="1"/>
          </p:cNvPicPr>
          <p:nvPr/>
        </p:nvPicPr>
        <p:blipFill>
          <a:blip r:embed="rId3"/>
          <a:stretch>
            <a:fillRect/>
          </a:stretch>
        </p:blipFill>
        <p:spPr>
          <a:xfrm>
            <a:off x="8321040" y="201168"/>
            <a:ext cx="502920" cy="502920"/>
          </a:xfrm>
          <a:prstGeom prst="rect">
            <a:avLst/>
          </a:prstGeom>
        </p:spPr>
      </p:pic>
      <p:sp>
        <p:nvSpPr>
          <p:cNvPr id="5" name="Shape 2"/>
          <p:cNvSpPr/>
          <p:nvPr/>
        </p:nvSpPr>
        <p:spPr>
          <a:xfrm>
            <a:off x="411480" y="1033272"/>
            <a:ext cx="8321040" cy="16459"/>
          </a:xfrm>
          <a:prstGeom prst="rect">
            <a:avLst/>
          </a:prstGeom>
          <a:solidFill>
            <a:srgbClr val="E8EEF6"/>
          </a:solidFill>
          <a:ln/>
        </p:spPr>
      </p:sp>
      <p:sp>
        <p:nvSpPr>
          <p:cNvPr id="6" name="Text 3"/>
          <p:cNvSpPr/>
          <p:nvPr/>
        </p:nvSpPr>
        <p:spPr>
          <a:xfrm>
            <a:off x="8046720" y="4754880"/>
            <a:ext cx="822960" cy="228600"/>
          </a:xfrm>
          <a:prstGeom prst="rect">
            <a:avLst/>
          </a:prstGeom>
          <a:noFill/>
          <a:ln/>
        </p:spPr>
        <p:txBody>
          <a:bodyPr wrap="square" lIns="0" tIns="0" rIns="0" bIns="0" rtlCol="0" anchor="ctr"/>
          <a:lstStyle/>
          <a:p>
            <a:pPr marL="0" indent="0" algn="r">
              <a:buNone/>
            </a:pPr>
            <a:r>
              <a:rPr lang="en-US" sz="900" dirty="0">
                <a:solidFill>
                  <a:srgbClr val="8A9BB5"/>
                </a:solidFill>
              </a:rPr>
              <a:t>5 / 11</a:t>
            </a:r>
            <a:endParaRPr lang="en-US" sz="900" dirty="0"/>
          </a:p>
        </p:txBody>
      </p:sp>
      <p:pic>
        <p:nvPicPr>
          <p:cNvPr id="7" name="Image 1" descr="preencoded.png"/>
          <p:cNvPicPr>
            <a:picLocks noChangeAspect="1"/>
          </p:cNvPicPr>
          <p:nvPr/>
        </p:nvPicPr>
        <p:blipFill>
          <a:blip r:embed="rId4"/>
          <a:srcRect/>
          <a:stretch/>
        </p:blipFill>
        <p:spPr>
          <a:xfrm>
            <a:off x="411480" y="1115568"/>
            <a:ext cx="4206240" cy="3794760"/>
          </a:xfrm>
          <a:prstGeom prst="rect">
            <a:avLst/>
          </a:prstGeom>
        </p:spPr>
      </p:pic>
      <p:sp>
        <p:nvSpPr>
          <p:cNvPr id="8" name="Shape 4"/>
          <p:cNvSpPr/>
          <p:nvPr/>
        </p:nvSpPr>
        <p:spPr>
          <a:xfrm>
            <a:off x="4754880" y="1115568"/>
            <a:ext cx="3977640" cy="3794760"/>
          </a:xfrm>
          <a:prstGeom prst="rect">
            <a:avLst/>
          </a:prstGeom>
          <a:solidFill>
            <a:srgbClr val="FFFFFF"/>
          </a:solidFill>
          <a:ln/>
          <a:effectLst>
            <a:outerShdw blurRad="101600" dist="25400" dir="8100000" algn="bl" rotWithShape="0">
              <a:srgbClr val="000000">
                <a:alpha val="8000"/>
              </a:srgbClr>
            </a:outerShdw>
          </a:effectLst>
        </p:spPr>
      </p:sp>
      <p:sp>
        <p:nvSpPr>
          <p:cNvPr id="9" name="Shape 5"/>
          <p:cNvSpPr/>
          <p:nvPr/>
        </p:nvSpPr>
        <p:spPr>
          <a:xfrm>
            <a:off x="4754880" y="1115568"/>
            <a:ext cx="3977640" cy="347472"/>
          </a:xfrm>
          <a:prstGeom prst="rect">
            <a:avLst/>
          </a:prstGeom>
          <a:solidFill>
            <a:srgbClr val="1A2F5E"/>
          </a:solidFill>
          <a:ln/>
        </p:spPr>
      </p:sp>
      <p:sp>
        <p:nvSpPr>
          <p:cNvPr id="10" name="Text 6"/>
          <p:cNvSpPr/>
          <p:nvPr/>
        </p:nvSpPr>
        <p:spPr>
          <a:xfrm>
            <a:off x="4846320" y="1133856"/>
            <a:ext cx="374904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Schema Overview</a:t>
            </a:r>
            <a:endParaRPr lang="en-US" sz="1200" dirty="0"/>
          </a:p>
        </p:txBody>
      </p:sp>
      <p:sp>
        <p:nvSpPr>
          <p:cNvPr id="11" name="Shape 7"/>
          <p:cNvSpPr/>
          <p:nvPr/>
        </p:nvSpPr>
        <p:spPr>
          <a:xfrm>
            <a:off x="4754880" y="1536192"/>
            <a:ext cx="64008" cy="237744"/>
          </a:xfrm>
          <a:prstGeom prst="rect">
            <a:avLst/>
          </a:prstGeom>
          <a:solidFill>
            <a:srgbClr val="E67E22"/>
          </a:solidFill>
          <a:ln/>
        </p:spPr>
      </p:sp>
      <p:sp>
        <p:nvSpPr>
          <p:cNvPr id="12" name="Text 8"/>
          <p:cNvSpPr/>
          <p:nvPr/>
        </p:nvSpPr>
        <p:spPr>
          <a:xfrm>
            <a:off x="4864608" y="1536192"/>
            <a:ext cx="3749040" cy="237744"/>
          </a:xfrm>
          <a:prstGeom prst="rect">
            <a:avLst/>
          </a:prstGeom>
          <a:noFill/>
          <a:ln/>
        </p:spPr>
        <p:txBody>
          <a:bodyPr wrap="square" lIns="0" tIns="0" rIns="0" bIns="0" rtlCol="0" anchor="ctr"/>
          <a:lstStyle/>
          <a:p>
            <a:pPr marL="0" indent="0">
              <a:buNone/>
            </a:pPr>
            <a:r>
              <a:rPr lang="en-US" sz="1000" b="1" dirty="0">
                <a:solidFill>
                  <a:srgbClr val="1A2F5E"/>
                </a:solidFill>
                <a:latin typeface="Calibri" pitchFamily="34" charset="0"/>
                <a:ea typeface="Calibri" pitchFamily="34" charset="-122"/>
                <a:cs typeface="Calibri" pitchFamily="34" charset="-120"/>
              </a:rPr>
              <a:t>Fact Tables (2)</a:t>
            </a:r>
            <a:endParaRPr lang="en-US" sz="1000" dirty="0"/>
          </a:p>
        </p:txBody>
      </p:sp>
      <p:sp>
        <p:nvSpPr>
          <p:cNvPr id="13" name="Text 9"/>
          <p:cNvSpPr/>
          <p:nvPr/>
        </p:nvSpPr>
        <p:spPr>
          <a:xfrm>
            <a:off x="4892040" y="1792224"/>
            <a:ext cx="3703320" cy="201168"/>
          </a:xfrm>
          <a:prstGeom prst="rect">
            <a:avLst/>
          </a:prstGeom>
          <a:noFill/>
          <a:ln/>
        </p:spPr>
        <p:txBody>
          <a:bodyPr wrap="square" lIns="0" tIns="0" rIns="0" bIns="0" rtlCol="0" anchor="ctr"/>
          <a:lstStyle/>
          <a:p>
            <a:pPr marL="0" indent="0">
              <a:buNone/>
            </a:pPr>
            <a:r>
              <a:rPr lang="en-US" sz="900" dirty="0">
                <a:solidFill>
                  <a:srgbClr val="5A6F8A"/>
                </a:solidFill>
                <a:latin typeface="Calibri" pitchFamily="34" charset="0"/>
                <a:ea typeface="Calibri" pitchFamily="34" charset="-122"/>
                <a:cs typeface="Calibri" pitchFamily="34" charset="-120"/>
              </a:rPr>
              <a:t>· fact_rental — grain: one row per rental</a:t>
            </a:r>
            <a:endParaRPr lang="en-US" sz="900" dirty="0"/>
          </a:p>
        </p:txBody>
      </p:sp>
      <p:sp>
        <p:nvSpPr>
          <p:cNvPr id="14" name="Text 10"/>
          <p:cNvSpPr/>
          <p:nvPr/>
        </p:nvSpPr>
        <p:spPr>
          <a:xfrm>
            <a:off x="4892040" y="2002536"/>
            <a:ext cx="3703320" cy="201168"/>
          </a:xfrm>
          <a:prstGeom prst="rect">
            <a:avLst/>
          </a:prstGeom>
          <a:noFill/>
          <a:ln/>
        </p:spPr>
        <p:txBody>
          <a:bodyPr wrap="square" lIns="0" tIns="0" rIns="0" bIns="0" rtlCol="0" anchor="ctr"/>
          <a:lstStyle/>
          <a:p>
            <a:pPr marL="0" indent="0">
              <a:buNone/>
            </a:pPr>
            <a:r>
              <a:rPr lang="en-US" sz="900" dirty="0">
                <a:solidFill>
                  <a:srgbClr val="5A6F8A"/>
                </a:solidFill>
                <a:latin typeface="Calibri" pitchFamily="34" charset="0"/>
                <a:ea typeface="Calibri" pitchFamily="34" charset="-122"/>
                <a:cs typeface="Calibri" pitchFamily="34" charset="-120"/>
              </a:rPr>
              <a:t>· fact_payment — grain: one row per payment</a:t>
            </a:r>
            <a:endParaRPr lang="en-US" sz="900" dirty="0"/>
          </a:p>
        </p:txBody>
      </p:sp>
      <p:sp>
        <p:nvSpPr>
          <p:cNvPr id="15" name="Shape 11"/>
          <p:cNvSpPr/>
          <p:nvPr/>
        </p:nvSpPr>
        <p:spPr>
          <a:xfrm>
            <a:off x="4754880" y="2286000"/>
            <a:ext cx="64008" cy="237744"/>
          </a:xfrm>
          <a:prstGeom prst="rect">
            <a:avLst/>
          </a:prstGeom>
          <a:solidFill>
            <a:srgbClr val="1A7A9A"/>
          </a:solidFill>
          <a:ln/>
        </p:spPr>
      </p:sp>
      <p:sp>
        <p:nvSpPr>
          <p:cNvPr id="16" name="Text 12"/>
          <p:cNvSpPr/>
          <p:nvPr/>
        </p:nvSpPr>
        <p:spPr>
          <a:xfrm>
            <a:off x="4864608" y="2286000"/>
            <a:ext cx="3749040" cy="237744"/>
          </a:xfrm>
          <a:prstGeom prst="rect">
            <a:avLst/>
          </a:prstGeom>
          <a:noFill/>
          <a:ln/>
        </p:spPr>
        <p:txBody>
          <a:bodyPr wrap="square" lIns="0" tIns="0" rIns="0" bIns="0" rtlCol="0" anchor="ctr"/>
          <a:lstStyle/>
          <a:p>
            <a:pPr marL="0" indent="0">
              <a:buNone/>
            </a:pPr>
            <a:r>
              <a:rPr lang="en-US" sz="1000" b="1" dirty="0">
                <a:solidFill>
                  <a:srgbClr val="1A2F5E"/>
                </a:solidFill>
                <a:latin typeface="Calibri" pitchFamily="34" charset="0"/>
                <a:ea typeface="Calibri" pitchFamily="34" charset="-122"/>
                <a:cs typeface="Calibri" pitchFamily="34" charset="-120"/>
              </a:rPr>
              <a:t>Core Dimensions (5)</a:t>
            </a:r>
            <a:endParaRPr lang="en-US" sz="1000" dirty="0"/>
          </a:p>
        </p:txBody>
      </p:sp>
      <p:sp>
        <p:nvSpPr>
          <p:cNvPr id="17" name="Text 13"/>
          <p:cNvSpPr/>
          <p:nvPr/>
        </p:nvSpPr>
        <p:spPr>
          <a:xfrm>
            <a:off x="4892040" y="2542032"/>
            <a:ext cx="3703320" cy="201168"/>
          </a:xfrm>
          <a:prstGeom prst="rect">
            <a:avLst/>
          </a:prstGeom>
          <a:noFill/>
          <a:ln/>
        </p:spPr>
        <p:txBody>
          <a:bodyPr wrap="square" lIns="0" tIns="0" rIns="0" bIns="0" rtlCol="0" anchor="ctr"/>
          <a:lstStyle/>
          <a:p>
            <a:pPr marL="0" indent="0">
              <a:buNone/>
            </a:pPr>
            <a:r>
              <a:rPr lang="en-US" sz="900" dirty="0">
                <a:solidFill>
                  <a:srgbClr val="5A6F8A"/>
                </a:solidFill>
                <a:latin typeface="Calibri" pitchFamily="34" charset="0"/>
                <a:ea typeface="Calibri" pitchFamily="34" charset="-122"/>
                <a:cs typeface="Calibri" pitchFamily="34" charset="-120"/>
              </a:rPr>
              <a:t>· dim_date · dim_customer · dim_film</a:t>
            </a:r>
            <a:endParaRPr lang="en-US" sz="900" dirty="0"/>
          </a:p>
        </p:txBody>
      </p:sp>
      <p:sp>
        <p:nvSpPr>
          <p:cNvPr id="18" name="Text 14"/>
          <p:cNvSpPr/>
          <p:nvPr/>
        </p:nvSpPr>
        <p:spPr>
          <a:xfrm>
            <a:off x="4892040" y="2752344"/>
            <a:ext cx="3703320" cy="201168"/>
          </a:xfrm>
          <a:prstGeom prst="rect">
            <a:avLst/>
          </a:prstGeom>
          <a:noFill/>
          <a:ln/>
        </p:spPr>
        <p:txBody>
          <a:bodyPr wrap="square" lIns="0" tIns="0" rIns="0" bIns="0" rtlCol="0" anchor="ctr"/>
          <a:lstStyle/>
          <a:p>
            <a:pPr marL="0" indent="0">
              <a:buNone/>
            </a:pPr>
            <a:r>
              <a:rPr lang="en-US" sz="900" dirty="0">
                <a:solidFill>
                  <a:srgbClr val="5A6F8A"/>
                </a:solidFill>
                <a:latin typeface="Calibri" pitchFamily="34" charset="0"/>
                <a:ea typeface="Calibri" pitchFamily="34" charset="-122"/>
                <a:cs typeface="Calibri" pitchFamily="34" charset="-120"/>
              </a:rPr>
              <a:t>· dim_store · dim_staff</a:t>
            </a:r>
            <a:endParaRPr lang="en-US" sz="900" dirty="0"/>
          </a:p>
        </p:txBody>
      </p:sp>
      <p:sp>
        <p:nvSpPr>
          <p:cNvPr id="19" name="Shape 15"/>
          <p:cNvSpPr/>
          <p:nvPr/>
        </p:nvSpPr>
        <p:spPr>
          <a:xfrm>
            <a:off x="4754880" y="3035808"/>
            <a:ext cx="64008" cy="237744"/>
          </a:xfrm>
          <a:prstGeom prst="rect">
            <a:avLst/>
          </a:prstGeom>
          <a:solidFill>
            <a:srgbClr val="8E44AD"/>
          </a:solidFill>
          <a:ln/>
        </p:spPr>
      </p:sp>
      <p:sp>
        <p:nvSpPr>
          <p:cNvPr id="20" name="Text 16"/>
          <p:cNvSpPr/>
          <p:nvPr/>
        </p:nvSpPr>
        <p:spPr>
          <a:xfrm>
            <a:off x="4864608" y="3035808"/>
            <a:ext cx="3749040" cy="237744"/>
          </a:xfrm>
          <a:prstGeom prst="rect">
            <a:avLst/>
          </a:prstGeom>
          <a:noFill/>
          <a:ln/>
        </p:spPr>
        <p:txBody>
          <a:bodyPr wrap="square" lIns="0" tIns="0" rIns="0" bIns="0" rtlCol="0" anchor="ctr"/>
          <a:lstStyle/>
          <a:p>
            <a:pPr marL="0" indent="0">
              <a:buNone/>
            </a:pPr>
            <a:r>
              <a:rPr lang="en-US" sz="1000" b="1" dirty="0">
                <a:solidFill>
                  <a:srgbClr val="1A2F5E"/>
                </a:solidFill>
                <a:latin typeface="Calibri" pitchFamily="34" charset="0"/>
                <a:ea typeface="Calibri" pitchFamily="34" charset="-122"/>
                <a:cs typeface="Calibri" pitchFamily="34" charset="-120"/>
              </a:rPr>
              <a:t>Sub-Dimensions (3)</a:t>
            </a:r>
            <a:endParaRPr lang="en-US" sz="1000" dirty="0"/>
          </a:p>
        </p:txBody>
      </p:sp>
      <p:sp>
        <p:nvSpPr>
          <p:cNvPr id="21" name="Text 17"/>
          <p:cNvSpPr/>
          <p:nvPr/>
        </p:nvSpPr>
        <p:spPr>
          <a:xfrm>
            <a:off x="4892040" y="3291840"/>
            <a:ext cx="3703320" cy="201168"/>
          </a:xfrm>
          <a:prstGeom prst="rect">
            <a:avLst/>
          </a:prstGeom>
          <a:noFill/>
          <a:ln/>
        </p:spPr>
        <p:txBody>
          <a:bodyPr wrap="square" lIns="0" tIns="0" rIns="0" bIns="0" rtlCol="0" anchor="ctr"/>
          <a:lstStyle/>
          <a:p>
            <a:pPr marL="0" indent="0">
              <a:buNone/>
            </a:pPr>
            <a:r>
              <a:rPr lang="en-US" sz="900" dirty="0">
                <a:solidFill>
                  <a:srgbClr val="5A6F8A"/>
                </a:solidFill>
                <a:latin typeface="Calibri" pitchFamily="34" charset="0"/>
                <a:ea typeface="Calibri" pitchFamily="34" charset="-122"/>
                <a:cs typeface="Calibri" pitchFamily="34" charset="-120"/>
              </a:rPr>
              <a:t>· dim_category · dim_language · dim_location</a:t>
            </a:r>
            <a:endParaRPr lang="en-US" sz="900" dirty="0"/>
          </a:p>
        </p:txBody>
      </p:sp>
      <p:sp>
        <p:nvSpPr>
          <p:cNvPr id="22" name="Shape 18"/>
          <p:cNvSpPr/>
          <p:nvPr/>
        </p:nvSpPr>
        <p:spPr>
          <a:xfrm>
            <a:off x="4754880" y="3575304"/>
            <a:ext cx="64008" cy="237744"/>
          </a:xfrm>
          <a:prstGeom prst="rect">
            <a:avLst/>
          </a:prstGeom>
          <a:solidFill>
            <a:srgbClr val="7F8C8D"/>
          </a:solidFill>
          <a:ln/>
        </p:spPr>
      </p:sp>
      <p:sp>
        <p:nvSpPr>
          <p:cNvPr id="23" name="Text 19"/>
          <p:cNvSpPr/>
          <p:nvPr/>
        </p:nvSpPr>
        <p:spPr>
          <a:xfrm>
            <a:off x="4864608" y="3575304"/>
            <a:ext cx="3749040" cy="237744"/>
          </a:xfrm>
          <a:prstGeom prst="rect">
            <a:avLst/>
          </a:prstGeom>
          <a:noFill/>
          <a:ln/>
        </p:spPr>
        <p:txBody>
          <a:bodyPr wrap="square" lIns="0" tIns="0" rIns="0" bIns="0" rtlCol="0" anchor="ctr"/>
          <a:lstStyle/>
          <a:p>
            <a:pPr marL="0" indent="0">
              <a:buNone/>
            </a:pPr>
            <a:r>
              <a:rPr lang="en-US" sz="1000" b="1" dirty="0">
                <a:solidFill>
                  <a:srgbClr val="1A2F5E"/>
                </a:solidFill>
                <a:latin typeface="Calibri" pitchFamily="34" charset="0"/>
                <a:ea typeface="Calibri" pitchFamily="34" charset="-122"/>
                <a:cs typeface="Calibri" pitchFamily="34" charset="-120"/>
              </a:rPr>
              <a:t>Bridge Table (1)</a:t>
            </a:r>
            <a:endParaRPr lang="en-US" sz="1000" dirty="0"/>
          </a:p>
        </p:txBody>
      </p:sp>
      <p:sp>
        <p:nvSpPr>
          <p:cNvPr id="24" name="Text 20"/>
          <p:cNvSpPr/>
          <p:nvPr/>
        </p:nvSpPr>
        <p:spPr>
          <a:xfrm>
            <a:off x="4892040" y="3831336"/>
            <a:ext cx="3703320" cy="201168"/>
          </a:xfrm>
          <a:prstGeom prst="rect">
            <a:avLst/>
          </a:prstGeom>
          <a:noFill/>
          <a:ln/>
        </p:spPr>
        <p:txBody>
          <a:bodyPr wrap="square" lIns="0" tIns="0" rIns="0" bIns="0" rtlCol="0" anchor="ctr"/>
          <a:lstStyle/>
          <a:p>
            <a:pPr marL="0" indent="0">
              <a:buNone/>
            </a:pPr>
            <a:r>
              <a:rPr lang="en-US" sz="900" dirty="0">
                <a:solidFill>
                  <a:srgbClr val="5A6F8A"/>
                </a:solidFill>
                <a:latin typeface="Calibri" pitchFamily="34" charset="0"/>
                <a:ea typeface="Calibri" pitchFamily="34" charset="-122"/>
                <a:cs typeface="Calibri" pitchFamily="34" charset="-120"/>
              </a:rPr>
              <a:t>· bridge_film_actor — resolves film ↔ actor many-to-many</a:t>
            </a:r>
            <a:endParaRPr lang="en-US" sz="900" dirty="0"/>
          </a:p>
        </p:txBody>
      </p:sp>
      <p:sp>
        <p:nvSpPr>
          <p:cNvPr id="25" name="Shape 21"/>
          <p:cNvSpPr/>
          <p:nvPr/>
        </p:nvSpPr>
        <p:spPr>
          <a:xfrm>
            <a:off x="4754880" y="4114800"/>
            <a:ext cx="64008" cy="237744"/>
          </a:xfrm>
          <a:prstGeom prst="rect">
            <a:avLst/>
          </a:prstGeom>
          <a:solidFill>
            <a:srgbClr val="3A7BD5"/>
          </a:solidFill>
          <a:ln/>
        </p:spPr>
      </p:sp>
      <p:sp>
        <p:nvSpPr>
          <p:cNvPr id="26" name="Text 22"/>
          <p:cNvSpPr/>
          <p:nvPr/>
        </p:nvSpPr>
        <p:spPr>
          <a:xfrm>
            <a:off x="4864608" y="4114800"/>
            <a:ext cx="3749040" cy="237744"/>
          </a:xfrm>
          <a:prstGeom prst="rect">
            <a:avLst/>
          </a:prstGeom>
          <a:noFill/>
          <a:ln/>
        </p:spPr>
        <p:txBody>
          <a:bodyPr wrap="square" lIns="0" tIns="0" rIns="0" bIns="0" rtlCol="0" anchor="ctr"/>
          <a:lstStyle/>
          <a:p>
            <a:pPr marL="0" indent="0">
              <a:buNone/>
            </a:pPr>
            <a:r>
              <a:rPr lang="en-US" sz="1000" b="1" dirty="0">
                <a:solidFill>
                  <a:srgbClr val="1A2F5E"/>
                </a:solidFill>
                <a:latin typeface="Calibri" pitchFamily="34" charset="0"/>
                <a:ea typeface="Calibri" pitchFamily="34" charset="-122"/>
                <a:cs typeface="Calibri" pitchFamily="34" charset="-120"/>
              </a:rPr>
              <a:t>Schema Type</a:t>
            </a:r>
            <a:endParaRPr lang="en-US" sz="1000" dirty="0"/>
          </a:p>
        </p:txBody>
      </p:sp>
      <p:sp>
        <p:nvSpPr>
          <p:cNvPr id="27" name="Text 23"/>
          <p:cNvSpPr/>
          <p:nvPr/>
        </p:nvSpPr>
        <p:spPr>
          <a:xfrm>
            <a:off x="4892040" y="4370832"/>
            <a:ext cx="3703320" cy="201168"/>
          </a:xfrm>
          <a:prstGeom prst="rect">
            <a:avLst/>
          </a:prstGeom>
          <a:noFill/>
          <a:ln/>
        </p:spPr>
        <p:txBody>
          <a:bodyPr wrap="square" lIns="0" tIns="0" rIns="0" bIns="0" rtlCol="0" anchor="ctr"/>
          <a:lstStyle/>
          <a:p>
            <a:pPr marL="0" indent="0">
              <a:buNone/>
            </a:pPr>
            <a:r>
              <a:rPr lang="en-US" sz="900" dirty="0">
                <a:solidFill>
                  <a:srgbClr val="5A6F8A"/>
                </a:solidFill>
                <a:latin typeface="Calibri" pitchFamily="34" charset="0"/>
                <a:ea typeface="Calibri" pitchFamily="34" charset="-122"/>
                <a:cs typeface="Calibri" pitchFamily="34" charset="-120"/>
              </a:rPr>
              <a:t>· Hybrid Star / Snowflake Schema — dim_film→category/language · dim_store→location</a:t>
            </a:r>
            <a:endParaRPr lang="en-US" sz="900" dirty="0"/>
          </a:p>
        </p:txBody>
      </p:sp>
      <p:sp>
        <p:nvSpPr>
          <p:cNvPr id="28" name="Shape 24"/>
          <p:cNvSpPr/>
          <p:nvPr/>
        </p:nvSpPr>
        <p:spPr>
          <a:xfrm>
            <a:off x="4754880" y="4663440"/>
            <a:ext cx="3977640" cy="246888"/>
          </a:xfrm>
          <a:prstGeom prst="rect">
            <a:avLst/>
          </a:prstGeom>
          <a:solidFill>
            <a:srgbClr val="C9DEFF"/>
          </a:solidFill>
          <a:ln/>
        </p:spPr>
      </p:sp>
      <p:sp>
        <p:nvSpPr>
          <p:cNvPr id="29" name="Text 25"/>
          <p:cNvSpPr/>
          <p:nvPr/>
        </p:nvSpPr>
        <p:spPr>
          <a:xfrm>
            <a:off x="4828032" y="4681728"/>
            <a:ext cx="3840480" cy="210312"/>
          </a:xfrm>
          <a:prstGeom prst="rect">
            <a:avLst/>
          </a:prstGeom>
          <a:noFill/>
          <a:ln/>
        </p:spPr>
        <p:txBody>
          <a:bodyPr wrap="square" lIns="0" tIns="0" rIns="0" bIns="0" rtlCol="0" anchor="ctr"/>
          <a:lstStyle/>
          <a:p>
            <a:pPr marL="0" indent="0">
              <a:buNone/>
            </a:pPr>
            <a:r>
              <a:rPr lang="en-US" sz="900" b="1" dirty="0">
                <a:solidFill>
                  <a:srgbClr val="1A2F5E"/>
                </a:solidFill>
                <a:latin typeface="Calibri" pitchFamily="34" charset="0"/>
                <a:ea typeface="Calibri" pitchFamily="34" charset="-122"/>
                <a:cs typeface="Calibri" pitchFamily="34" charset="-120"/>
              </a:rPr>
              <a:t>Grain: One row per rental  ·  One row per payment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11480" y="274320"/>
            <a:ext cx="64008" cy="685800"/>
          </a:xfrm>
          <a:prstGeom prst="rect">
            <a:avLst/>
          </a:prstGeom>
          <a:solidFill>
            <a:srgbClr val="3A7BD5"/>
          </a:solidFill>
          <a:ln/>
        </p:spPr>
      </p:sp>
      <p:sp>
        <p:nvSpPr>
          <p:cNvPr id="3" name="Text 1"/>
          <p:cNvSpPr/>
          <p:nvPr/>
        </p:nvSpPr>
        <p:spPr>
          <a:xfrm>
            <a:off x="566928" y="256032"/>
            <a:ext cx="7772400" cy="731520"/>
          </a:xfrm>
          <a:prstGeom prst="rect">
            <a:avLst/>
          </a:prstGeom>
          <a:noFill/>
          <a:ln/>
        </p:spPr>
        <p:txBody>
          <a:bodyPr wrap="square" lIns="0" tIns="0" rIns="0" bIns="0" rtlCol="0" anchor="ctr"/>
          <a:lstStyle/>
          <a:p>
            <a:pPr marL="0" indent="0">
              <a:buNone/>
            </a:pPr>
            <a:r>
              <a:rPr lang="en-US" sz="2600" b="1" dirty="0">
                <a:solidFill>
                  <a:srgbClr val="1A2F5E"/>
                </a:solidFill>
                <a:latin typeface="Calibri" pitchFamily="34" charset="0"/>
                <a:ea typeface="Calibri" pitchFamily="34" charset="-122"/>
                <a:cs typeface="Calibri" pitchFamily="34" charset="-120"/>
              </a:rPr>
              <a:t>ETL Process — Extract, Transform, Load</a:t>
            </a:r>
            <a:endParaRPr lang="en-US" sz="2600" dirty="0"/>
          </a:p>
        </p:txBody>
      </p:sp>
      <p:pic>
        <p:nvPicPr>
          <p:cNvPr id="4" name="Image 0" descr="preencoded.png"/>
          <p:cNvPicPr>
            <a:picLocks noChangeAspect="1"/>
          </p:cNvPicPr>
          <p:nvPr/>
        </p:nvPicPr>
        <p:blipFill>
          <a:blip r:embed="rId3"/>
          <a:stretch>
            <a:fillRect/>
          </a:stretch>
        </p:blipFill>
        <p:spPr>
          <a:xfrm>
            <a:off x="8321040" y="201168"/>
            <a:ext cx="502920" cy="502920"/>
          </a:xfrm>
          <a:prstGeom prst="rect">
            <a:avLst/>
          </a:prstGeom>
        </p:spPr>
      </p:pic>
      <p:sp>
        <p:nvSpPr>
          <p:cNvPr id="5" name="Shape 2"/>
          <p:cNvSpPr/>
          <p:nvPr/>
        </p:nvSpPr>
        <p:spPr>
          <a:xfrm>
            <a:off x="411480" y="1033272"/>
            <a:ext cx="8321040" cy="16459"/>
          </a:xfrm>
          <a:prstGeom prst="rect">
            <a:avLst/>
          </a:prstGeom>
          <a:solidFill>
            <a:srgbClr val="E8EEF6"/>
          </a:solidFill>
          <a:ln/>
        </p:spPr>
      </p:sp>
      <p:sp>
        <p:nvSpPr>
          <p:cNvPr id="6" name="Text 3"/>
          <p:cNvSpPr/>
          <p:nvPr/>
        </p:nvSpPr>
        <p:spPr>
          <a:xfrm>
            <a:off x="8046720" y="4754880"/>
            <a:ext cx="822960" cy="228600"/>
          </a:xfrm>
          <a:prstGeom prst="rect">
            <a:avLst/>
          </a:prstGeom>
          <a:noFill/>
          <a:ln/>
        </p:spPr>
        <p:txBody>
          <a:bodyPr wrap="square" lIns="0" tIns="0" rIns="0" bIns="0" rtlCol="0" anchor="ctr"/>
          <a:lstStyle/>
          <a:p>
            <a:pPr marL="0" indent="0" algn="r">
              <a:buNone/>
            </a:pPr>
            <a:r>
              <a:rPr lang="en-US" sz="900" dirty="0">
                <a:solidFill>
                  <a:srgbClr val="8A9BB5"/>
                </a:solidFill>
              </a:rPr>
              <a:t>6 / 11</a:t>
            </a:r>
            <a:endParaRPr lang="en-US" sz="900" dirty="0"/>
          </a:p>
        </p:txBody>
      </p:sp>
      <p:sp>
        <p:nvSpPr>
          <p:cNvPr id="7" name="Shape 4"/>
          <p:cNvSpPr/>
          <p:nvPr/>
        </p:nvSpPr>
        <p:spPr>
          <a:xfrm>
            <a:off x="347472" y="1143000"/>
            <a:ext cx="2651760" cy="3657600"/>
          </a:xfrm>
          <a:prstGeom prst="rect">
            <a:avLst/>
          </a:prstGeom>
          <a:solidFill>
            <a:srgbClr val="FFFFFF"/>
          </a:solidFill>
          <a:ln/>
          <a:effectLst>
            <a:outerShdw blurRad="101600" dist="25400" dir="8100000" algn="bl" rotWithShape="0">
              <a:srgbClr val="000000">
                <a:alpha val="10000"/>
              </a:srgbClr>
            </a:outerShdw>
          </a:effectLst>
        </p:spPr>
      </p:sp>
      <p:sp>
        <p:nvSpPr>
          <p:cNvPr id="8" name="Shape 5"/>
          <p:cNvSpPr/>
          <p:nvPr/>
        </p:nvSpPr>
        <p:spPr>
          <a:xfrm>
            <a:off x="347472" y="1143000"/>
            <a:ext cx="2651760" cy="640080"/>
          </a:xfrm>
          <a:prstGeom prst="rect">
            <a:avLst/>
          </a:prstGeom>
          <a:solidFill>
            <a:srgbClr val="1A2F5E"/>
          </a:solidFill>
          <a:ln/>
        </p:spPr>
      </p:sp>
      <p:pic>
        <p:nvPicPr>
          <p:cNvPr id="9" name="Image 1" descr="preencoded.png"/>
          <p:cNvPicPr>
            <a:picLocks noChangeAspect="1"/>
          </p:cNvPicPr>
          <p:nvPr/>
        </p:nvPicPr>
        <p:blipFill>
          <a:blip r:embed="rId4"/>
          <a:stretch>
            <a:fillRect/>
          </a:stretch>
        </p:blipFill>
        <p:spPr>
          <a:xfrm>
            <a:off x="484632" y="1252728"/>
            <a:ext cx="411480" cy="411480"/>
          </a:xfrm>
          <a:prstGeom prst="rect">
            <a:avLst/>
          </a:prstGeom>
        </p:spPr>
      </p:pic>
      <p:sp>
        <p:nvSpPr>
          <p:cNvPr id="10" name="Text 6"/>
          <p:cNvSpPr/>
          <p:nvPr/>
        </p:nvSpPr>
        <p:spPr>
          <a:xfrm>
            <a:off x="941832" y="1298448"/>
            <a:ext cx="196596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EXTRACT</a:t>
            </a:r>
            <a:endParaRPr lang="en-US" sz="1400" dirty="0"/>
          </a:p>
        </p:txBody>
      </p:sp>
      <p:sp>
        <p:nvSpPr>
          <p:cNvPr id="11" name="Text 7"/>
          <p:cNvSpPr/>
          <p:nvPr/>
        </p:nvSpPr>
        <p:spPr>
          <a:xfrm>
            <a:off x="484632" y="1892808"/>
            <a:ext cx="2423160" cy="2743200"/>
          </a:xfrm>
          <a:prstGeom prst="rect">
            <a:avLst/>
          </a:prstGeom>
          <a:noFill/>
          <a:ln/>
        </p:spPr>
        <p:txBody>
          <a:bodyPr wrap="square" lIns="0" tIns="0" rIns="0" bIns="0" rtlCol="0" anchor="t"/>
          <a:lstStyle/>
          <a:p>
            <a:pPr marL="101600" indent="-101600">
              <a:spcAft>
                <a:spcPts val="500"/>
              </a:spcAft>
              <a:buSzPct val="100000"/>
              <a:buChar char="•"/>
            </a:pPr>
            <a:r>
              <a:rPr lang="en-US" sz="1100" dirty="0">
                <a:solidFill>
                  <a:srgbClr val="1C2B4A"/>
                </a:solidFill>
                <a:latin typeface="Calibri" pitchFamily="34" charset="0"/>
                <a:ea typeface="Calibri" pitchFamily="34" charset="-122"/>
                <a:cs typeface="Calibri" pitchFamily="34" charset="-120"/>
              </a:rPr>
              <a:t>Read from OLTP tables</a:t>
            </a:r>
            <a:endParaRPr lang="en-US" sz="1100" dirty="0"/>
          </a:p>
          <a:p>
            <a:pPr marL="101600" indent="-101600">
              <a:spcAft>
                <a:spcPts val="500"/>
              </a:spcAft>
              <a:buSzPct val="100000"/>
              <a:buChar char="•"/>
            </a:pPr>
            <a:r>
              <a:rPr lang="en-US" sz="1100" dirty="0">
                <a:solidFill>
                  <a:srgbClr val="1C2B4A"/>
                </a:solidFill>
                <a:latin typeface="Calibri" pitchFamily="34" charset="0"/>
                <a:ea typeface="Calibri" pitchFamily="34" charset="-122"/>
                <a:cs typeface="Calibri" pitchFamily="34" charset="-120"/>
              </a:rPr>
              <a:t>No changes to source</a:t>
            </a:r>
            <a:endParaRPr lang="en-US" sz="1100" dirty="0"/>
          </a:p>
          <a:p>
            <a:pPr marL="101600" indent="-101600">
              <a:spcAft>
                <a:spcPts val="500"/>
              </a:spcAft>
              <a:buSzPct val="100000"/>
              <a:buChar char="•"/>
            </a:pPr>
            <a:r>
              <a:rPr lang="en-US" sz="1100" dirty="0">
                <a:solidFill>
                  <a:srgbClr val="1C2B4A"/>
                </a:solidFill>
                <a:latin typeface="Calibri" pitchFamily="34" charset="0"/>
                <a:ea typeface="Calibri" pitchFamily="34" charset="-122"/>
                <a:cs typeface="Calibri" pitchFamily="34" charset="-120"/>
              </a:rPr>
              <a:t>Tables: rental, payment, film, customer, store, staff, category</a:t>
            </a:r>
            <a:endParaRPr lang="en-US" sz="1100" dirty="0"/>
          </a:p>
        </p:txBody>
      </p:sp>
      <p:sp>
        <p:nvSpPr>
          <p:cNvPr id="12" name="Shape 8"/>
          <p:cNvSpPr/>
          <p:nvPr/>
        </p:nvSpPr>
        <p:spPr>
          <a:xfrm>
            <a:off x="3063240" y="2715768"/>
            <a:ext cx="512064" cy="512064"/>
          </a:xfrm>
          <a:prstGeom prst="ellipse">
            <a:avLst/>
          </a:prstGeom>
          <a:solidFill>
            <a:srgbClr val="E8A917"/>
          </a:solidFill>
          <a:ln/>
        </p:spPr>
      </p:sp>
      <p:pic>
        <p:nvPicPr>
          <p:cNvPr id="13" name="Image 2" descr="preencoded.png"/>
          <p:cNvPicPr>
            <a:picLocks noChangeAspect="1"/>
          </p:cNvPicPr>
          <p:nvPr/>
        </p:nvPicPr>
        <p:blipFill>
          <a:blip r:embed="rId5"/>
          <a:stretch>
            <a:fillRect/>
          </a:stretch>
        </p:blipFill>
        <p:spPr>
          <a:xfrm>
            <a:off x="3090672" y="2743200"/>
            <a:ext cx="457200" cy="457200"/>
          </a:xfrm>
          <a:prstGeom prst="rect">
            <a:avLst/>
          </a:prstGeom>
        </p:spPr>
      </p:pic>
      <p:sp>
        <p:nvSpPr>
          <p:cNvPr id="14" name="Shape 9"/>
          <p:cNvSpPr/>
          <p:nvPr/>
        </p:nvSpPr>
        <p:spPr>
          <a:xfrm>
            <a:off x="3273552" y="1143000"/>
            <a:ext cx="2651760" cy="3657600"/>
          </a:xfrm>
          <a:prstGeom prst="rect">
            <a:avLst/>
          </a:prstGeom>
          <a:solidFill>
            <a:srgbClr val="FFFFFF"/>
          </a:solidFill>
          <a:ln/>
          <a:effectLst>
            <a:outerShdw blurRad="101600" dist="25400" dir="8100000" algn="bl" rotWithShape="0">
              <a:srgbClr val="000000">
                <a:alpha val="10000"/>
              </a:srgbClr>
            </a:outerShdw>
          </a:effectLst>
        </p:spPr>
      </p:sp>
      <p:sp>
        <p:nvSpPr>
          <p:cNvPr id="15" name="Shape 10"/>
          <p:cNvSpPr/>
          <p:nvPr/>
        </p:nvSpPr>
        <p:spPr>
          <a:xfrm>
            <a:off x="3273552" y="1143000"/>
            <a:ext cx="2651760" cy="640080"/>
          </a:xfrm>
          <a:prstGeom prst="rect">
            <a:avLst/>
          </a:prstGeom>
          <a:solidFill>
            <a:srgbClr val="4A6FA5"/>
          </a:solidFill>
          <a:ln/>
        </p:spPr>
      </p:sp>
      <p:pic>
        <p:nvPicPr>
          <p:cNvPr id="16" name="Image 3" descr="preencoded.png"/>
          <p:cNvPicPr>
            <a:picLocks noChangeAspect="1"/>
          </p:cNvPicPr>
          <p:nvPr/>
        </p:nvPicPr>
        <p:blipFill>
          <a:blip r:embed="rId6"/>
          <a:stretch>
            <a:fillRect/>
          </a:stretch>
        </p:blipFill>
        <p:spPr>
          <a:xfrm>
            <a:off x="3410712" y="1252728"/>
            <a:ext cx="411480" cy="411480"/>
          </a:xfrm>
          <a:prstGeom prst="rect">
            <a:avLst/>
          </a:prstGeom>
        </p:spPr>
      </p:pic>
      <p:sp>
        <p:nvSpPr>
          <p:cNvPr id="17" name="Text 11"/>
          <p:cNvSpPr/>
          <p:nvPr/>
        </p:nvSpPr>
        <p:spPr>
          <a:xfrm>
            <a:off x="3867912" y="1298448"/>
            <a:ext cx="196596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TRANSFORM</a:t>
            </a:r>
            <a:endParaRPr lang="en-US" sz="1400" dirty="0"/>
          </a:p>
        </p:txBody>
      </p:sp>
      <p:sp>
        <p:nvSpPr>
          <p:cNvPr id="18" name="Text 12"/>
          <p:cNvSpPr/>
          <p:nvPr/>
        </p:nvSpPr>
        <p:spPr>
          <a:xfrm>
            <a:off x="3410712" y="1892808"/>
            <a:ext cx="2423160" cy="2743200"/>
          </a:xfrm>
          <a:prstGeom prst="rect">
            <a:avLst/>
          </a:prstGeom>
          <a:noFill/>
          <a:ln/>
        </p:spPr>
        <p:txBody>
          <a:bodyPr wrap="square" lIns="0" tIns="0" rIns="0" bIns="0" rtlCol="0" anchor="t"/>
          <a:lstStyle/>
          <a:p>
            <a:pPr marL="101600" indent="-101600">
              <a:spcAft>
                <a:spcPts val="500"/>
              </a:spcAft>
              <a:buSzPct val="100000"/>
              <a:buChar char="•"/>
            </a:pPr>
            <a:r>
              <a:rPr lang="en-US" sz="1100" dirty="0">
                <a:solidFill>
                  <a:srgbClr val="1C2B4A"/>
                </a:solidFill>
                <a:latin typeface="Calibri" pitchFamily="34" charset="0"/>
                <a:ea typeface="Calibri" pitchFamily="34" charset="-122"/>
                <a:cs typeface="Calibri" pitchFamily="34" charset="-120"/>
              </a:rPr>
              <a:t>Clean &amp; validate data</a:t>
            </a:r>
            <a:endParaRPr lang="en-US" sz="1100" dirty="0"/>
          </a:p>
          <a:p>
            <a:pPr marL="101600" indent="-101600">
              <a:spcAft>
                <a:spcPts val="500"/>
              </a:spcAft>
              <a:buSzPct val="100000"/>
              <a:buChar char="•"/>
            </a:pPr>
            <a:r>
              <a:rPr lang="en-US" sz="1100" dirty="0">
                <a:solidFill>
                  <a:srgbClr val="1C2B4A"/>
                </a:solidFill>
                <a:latin typeface="Calibri" pitchFamily="34" charset="0"/>
                <a:ea typeface="Calibri" pitchFamily="34" charset="-122"/>
                <a:cs typeface="Calibri" pitchFamily="34" charset="-120"/>
              </a:rPr>
              <a:t>Handle NULL values</a:t>
            </a:r>
            <a:endParaRPr lang="en-US" sz="1100" dirty="0"/>
          </a:p>
          <a:p>
            <a:pPr marL="101600" indent="-101600">
              <a:spcAft>
                <a:spcPts val="500"/>
              </a:spcAft>
              <a:buSzPct val="100000"/>
              <a:buChar char="•"/>
            </a:pPr>
            <a:r>
              <a:rPr lang="en-US" sz="1100" dirty="0">
                <a:solidFill>
                  <a:srgbClr val="1C2B4A"/>
                </a:solidFill>
                <a:latin typeface="Calibri" pitchFamily="34" charset="0"/>
                <a:ea typeface="Calibri" pitchFamily="34" charset="-122"/>
                <a:cs typeface="Calibri" pitchFamily="34" charset="-120"/>
              </a:rPr>
              <a:t>Join related tables</a:t>
            </a:r>
            <a:endParaRPr lang="en-US" sz="1100" dirty="0"/>
          </a:p>
          <a:p>
            <a:pPr marL="101600" indent="-101600">
              <a:spcAft>
                <a:spcPts val="500"/>
              </a:spcAft>
              <a:buSzPct val="100000"/>
              <a:buChar char="•"/>
            </a:pPr>
            <a:r>
              <a:rPr lang="en-US" sz="1100" dirty="0">
                <a:solidFill>
                  <a:srgbClr val="1C2B4A"/>
                </a:solidFill>
                <a:latin typeface="Calibri" pitchFamily="34" charset="0"/>
                <a:ea typeface="Calibri" pitchFamily="34" charset="-122"/>
                <a:cs typeface="Calibri" pitchFamily="34" charset="-120"/>
              </a:rPr>
              <a:t>Generate surrogate keys</a:t>
            </a:r>
            <a:endParaRPr lang="en-US" sz="1100" dirty="0"/>
          </a:p>
          <a:p>
            <a:pPr marL="101600" indent="-101600">
              <a:spcAft>
                <a:spcPts val="500"/>
              </a:spcAft>
              <a:buSzPct val="100000"/>
              <a:buChar char="•"/>
            </a:pPr>
            <a:r>
              <a:rPr lang="en-US" sz="1100" dirty="0">
                <a:solidFill>
                  <a:srgbClr val="1C2B4A"/>
                </a:solidFill>
                <a:latin typeface="Calibri" pitchFamily="34" charset="0"/>
                <a:ea typeface="Calibri" pitchFamily="34" charset="-122"/>
                <a:cs typeface="Calibri" pitchFamily="34" charset="-120"/>
              </a:rPr>
              <a:t>Derive new fields (e.g. year, month)</a:t>
            </a:r>
            <a:endParaRPr lang="en-US" sz="1100" dirty="0"/>
          </a:p>
        </p:txBody>
      </p:sp>
      <p:sp>
        <p:nvSpPr>
          <p:cNvPr id="19" name="Shape 13"/>
          <p:cNvSpPr/>
          <p:nvPr/>
        </p:nvSpPr>
        <p:spPr>
          <a:xfrm>
            <a:off x="5989320" y="2715768"/>
            <a:ext cx="512064" cy="512064"/>
          </a:xfrm>
          <a:prstGeom prst="ellipse">
            <a:avLst/>
          </a:prstGeom>
          <a:solidFill>
            <a:srgbClr val="E8A917"/>
          </a:solidFill>
          <a:ln/>
        </p:spPr>
      </p:sp>
      <p:pic>
        <p:nvPicPr>
          <p:cNvPr id="20" name="Image 4" descr="preencoded.png"/>
          <p:cNvPicPr>
            <a:picLocks noChangeAspect="1"/>
          </p:cNvPicPr>
          <p:nvPr/>
        </p:nvPicPr>
        <p:blipFill>
          <a:blip r:embed="rId5"/>
          <a:stretch>
            <a:fillRect/>
          </a:stretch>
        </p:blipFill>
        <p:spPr>
          <a:xfrm>
            <a:off x="6016752" y="2743200"/>
            <a:ext cx="457200" cy="457200"/>
          </a:xfrm>
          <a:prstGeom prst="rect">
            <a:avLst/>
          </a:prstGeom>
        </p:spPr>
      </p:pic>
      <p:sp>
        <p:nvSpPr>
          <p:cNvPr id="21" name="Shape 14"/>
          <p:cNvSpPr/>
          <p:nvPr/>
        </p:nvSpPr>
        <p:spPr>
          <a:xfrm>
            <a:off x="6199632" y="1143000"/>
            <a:ext cx="2651760" cy="3657600"/>
          </a:xfrm>
          <a:prstGeom prst="rect">
            <a:avLst/>
          </a:prstGeom>
          <a:solidFill>
            <a:srgbClr val="FFFFFF"/>
          </a:solidFill>
          <a:ln/>
          <a:effectLst>
            <a:outerShdw blurRad="101600" dist="25400" dir="8100000" algn="bl" rotWithShape="0">
              <a:srgbClr val="000000">
                <a:alpha val="10000"/>
              </a:srgbClr>
            </a:outerShdw>
          </a:effectLst>
        </p:spPr>
      </p:sp>
      <p:sp>
        <p:nvSpPr>
          <p:cNvPr id="22" name="Shape 15"/>
          <p:cNvSpPr/>
          <p:nvPr/>
        </p:nvSpPr>
        <p:spPr>
          <a:xfrm>
            <a:off x="6199632" y="1143000"/>
            <a:ext cx="2651760" cy="640080"/>
          </a:xfrm>
          <a:prstGeom prst="rect">
            <a:avLst/>
          </a:prstGeom>
          <a:solidFill>
            <a:srgbClr val="3A7BD5"/>
          </a:solidFill>
          <a:ln/>
        </p:spPr>
      </p:sp>
      <p:pic>
        <p:nvPicPr>
          <p:cNvPr id="23" name="Image 5" descr="preencoded.png"/>
          <p:cNvPicPr>
            <a:picLocks noChangeAspect="1"/>
          </p:cNvPicPr>
          <p:nvPr/>
        </p:nvPicPr>
        <p:blipFill>
          <a:blip r:embed="rId7"/>
          <a:stretch>
            <a:fillRect/>
          </a:stretch>
        </p:blipFill>
        <p:spPr>
          <a:xfrm>
            <a:off x="6336792" y="1252728"/>
            <a:ext cx="411480" cy="411480"/>
          </a:xfrm>
          <a:prstGeom prst="rect">
            <a:avLst/>
          </a:prstGeom>
        </p:spPr>
      </p:pic>
      <p:sp>
        <p:nvSpPr>
          <p:cNvPr id="24" name="Text 16"/>
          <p:cNvSpPr/>
          <p:nvPr/>
        </p:nvSpPr>
        <p:spPr>
          <a:xfrm>
            <a:off x="6793992" y="1298448"/>
            <a:ext cx="196596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LOAD</a:t>
            </a:r>
            <a:endParaRPr lang="en-US" sz="1400" dirty="0"/>
          </a:p>
        </p:txBody>
      </p:sp>
      <p:sp>
        <p:nvSpPr>
          <p:cNvPr id="25" name="Text 17"/>
          <p:cNvSpPr/>
          <p:nvPr/>
        </p:nvSpPr>
        <p:spPr>
          <a:xfrm>
            <a:off x="6336792" y="1892808"/>
            <a:ext cx="2423160" cy="2743200"/>
          </a:xfrm>
          <a:prstGeom prst="rect">
            <a:avLst/>
          </a:prstGeom>
          <a:noFill/>
          <a:ln/>
        </p:spPr>
        <p:txBody>
          <a:bodyPr wrap="square" lIns="0" tIns="0" rIns="0" bIns="0" rtlCol="0" anchor="t"/>
          <a:lstStyle/>
          <a:p>
            <a:pPr marL="101600" indent="-101600">
              <a:spcAft>
                <a:spcPts val="500"/>
              </a:spcAft>
              <a:buSzPct val="100000"/>
              <a:buChar char="•"/>
            </a:pPr>
            <a:r>
              <a:rPr lang="en-US" sz="1100" dirty="0">
                <a:solidFill>
                  <a:srgbClr val="1C2B4A"/>
                </a:solidFill>
                <a:latin typeface="Calibri" pitchFamily="34" charset="0"/>
                <a:ea typeface="Calibri" pitchFamily="34" charset="-122"/>
                <a:cs typeface="Calibri" pitchFamily="34" charset="-120"/>
              </a:rPr>
              <a:t>Populate dimension tables first</a:t>
            </a:r>
            <a:endParaRPr lang="en-US" sz="1100" dirty="0"/>
          </a:p>
          <a:p>
            <a:pPr marL="101600" indent="-101600">
              <a:spcAft>
                <a:spcPts val="500"/>
              </a:spcAft>
              <a:buSzPct val="100000"/>
              <a:buChar char="•"/>
            </a:pPr>
            <a:r>
              <a:rPr lang="en-US" sz="1100" dirty="0">
                <a:solidFill>
                  <a:srgbClr val="1C2B4A"/>
                </a:solidFill>
                <a:latin typeface="Calibri" pitchFamily="34" charset="0"/>
                <a:ea typeface="Calibri" pitchFamily="34" charset="-122"/>
                <a:cs typeface="Calibri" pitchFamily="34" charset="-120"/>
              </a:rPr>
              <a:t>Then load fact table</a:t>
            </a:r>
            <a:endParaRPr lang="en-US" sz="1100" dirty="0"/>
          </a:p>
          <a:p>
            <a:pPr marL="101600" indent="-101600">
              <a:spcAft>
                <a:spcPts val="500"/>
              </a:spcAft>
              <a:buSzPct val="100000"/>
              <a:buChar char="•"/>
            </a:pPr>
            <a:r>
              <a:rPr lang="en-US" sz="1100" dirty="0">
                <a:solidFill>
                  <a:srgbClr val="1C2B4A"/>
                </a:solidFill>
                <a:latin typeface="Calibri" pitchFamily="34" charset="0"/>
                <a:ea typeface="Calibri" pitchFamily="34" charset="-122"/>
                <a:cs typeface="Calibri" pitchFamily="34" charset="-120"/>
              </a:rPr>
              <a:t>Use foreign key references</a:t>
            </a:r>
            <a:endParaRPr lang="en-US" sz="1100" dirty="0"/>
          </a:p>
          <a:p>
            <a:pPr marL="101600" indent="-101600">
              <a:spcAft>
                <a:spcPts val="500"/>
              </a:spcAft>
              <a:buSzPct val="100000"/>
              <a:buChar char="•"/>
            </a:pPr>
            <a:r>
              <a:rPr lang="en-US" sz="1100" dirty="0">
                <a:solidFill>
                  <a:srgbClr val="1C2B4A"/>
                </a:solidFill>
                <a:latin typeface="Calibri" pitchFamily="34" charset="0"/>
                <a:ea typeface="Calibri" pitchFamily="34" charset="-122"/>
                <a:cs typeface="Calibri" pitchFamily="34" charset="-120"/>
              </a:rPr>
              <a:t>Run data quality checks</a:t>
            </a:r>
            <a:endParaRPr lang="en-US" sz="1100" dirty="0"/>
          </a:p>
        </p:txBody>
      </p:sp>
      <p:sp>
        <p:nvSpPr>
          <p:cNvPr id="26" name="Text 18"/>
          <p:cNvSpPr/>
          <p:nvPr/>
        </p:nvSpPr>
        <p:spPr>
          <a:xfrm>
            <a:off x="347472" y="4754880"/>
            <a:ext cx="8412480" cy="256032"/>
          </a:xfrm>
          <a:prstGeom prst="rect">
            <a:avLst/>
          </a:prstGeom>
          <a:noFill/>
          <a:ln/>
        </p:spPr>
        <p:txBody>
          <a:bodyPr wrap="square" lIns="0" tIns="0" rIns="0" bIns="0" rtlCol="0" anchor="ctr"/>
          <a:lstStyle/>
          <a:p>
            <a:pPr marL="0" indent="0" algn="ctr">
              <a:buNone/>
            </a:pPr>
            <a:r>
              <a:rPr lang="en-US" sz="1000" i="1" dirty="0">
                <a:solidFill>
                  <a:srgbClr val="8A9BB5"/>
                </a:solidFill>
                <a:latin typeface="Calibri" pitchFamily="34" charset="0"/>
                <a:ea typeface="Calibri" pitchFamily="34" charset="-122"/>
                <a:cs typeface="Calibri" pitchFamily="34" charset="-120"/>
              </a:rPr>
              <a:t>OLTP Database  →  ETL Process  →  Data Warehouse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11480" y="274320"/>
            <a:ext cx="64008" cy="685800"/>
          </a:xfrm>
          <a:prstGeom prst="rect">
            <a:avLst/>
          </a:prstGeom>
          <a:solidFill>
            <a:srgbClr val="3A7BD5"/>
          </a:solidFill>
          <a:ln/>
        </p:spPr>
      </p:sp>
      <p:sp>
        <p:nvSpPr>
          <p:cNvPr id="3" name="Text 1"/>
          <p:cNvSpPr/>
          <p:nvPr/>
        </p:nvSpPr>
        <p:spPr>
          <a:xfrm>
            <a:off x="566928" y="256032"/>
            <a:ext cx="7772400" cy="731520"/>
          </a:xfrm>
          <a:prstGeom prst="rect">
            <a:avLst/>
          </a:prstGeom>
          <a:noFill/>
          <a:ln/>
        </p:spPr>
        <p:txBody>
          <a:bodyPr wrap="square" lIns="0" tIns="0" rIns="0" bIns="0" rtlCol="0" anchor="ctr"/>
          <a:lstStyle/>
          <a:p>
            <a:pPr marL="0" indent="0">
              <a:buNone/>
            </a:pPr>
            <a:r>
              <a:rPr lang="en-US" sz="2600" b="1" dirty="0">
                <a:solidFill>
                  <a:srgbClr val="1A2F5E"/>
                </a:solidFill>
                <a:latin typeface="Calibri" pitchFamily="34" charset="0"/>
                <a:ea typeface="Calibri" pitchFamily="34" charset="-122"/>
                <a:cs typeface="Calibri" pitchFamily="34" charset="-120"/>
              </a:rPr>
              <a:t>Analytical Dashboard — Results Visualization</a:t>
            </a:r>
            <a:endParaRPr lang="en-US" sz="2600" dirty="0"/>
          </a:p>
        </p:txBody>
      </p:sp>
      <p:pic>
        <p:nvPicPr>
          <p:cNvPr id="4" name="Image 0" descr="preencoded.png"/>
          <p:cNvPicPr>
            <a:picLocks noChangeAspect="1"/>
          </p:cNvPicPr>
          <p:nvPr/>
        </p:nvPicPr>
        <p:blipFill>
          <a:blip r:embed="rId3"/>
          <a:stretch>
            <a:fillRect/>
          </a:stretch>
        </p:blipFill>
        <p:spPr>
          <a:xfrm>
            <a:off x="8321040" y="201168"/>
            <a:ext cx="502920" cy="502920"/>
          </a:xfrm>
          <a:prstGeom prst="rect">
            <a:avLst/>
          </a:prstGeom>
        </p:spPr>
      </p:pic>
      <p:sp>
        <p:nvSpPr>
          <p:cNvPr id="5" name="Shape 2"/>
          <p:cNvSpPr/>
          <p:nvPr/>
        </p:nvSpPr>
        <p:spPr>
          <a:xfrm>
            <a:off x="411480" y="1033272"/>
            <a:ext cx="8321040" cy="16459"/>
          </a:xfrm>
          <a:prstGeom prst="rect">
            <a:avLst/>
          </a:prstGeom>
          <a:solidFill>
            <a:srgbClr val="E8EEF6"/>
          </a:solidFill>
          <a:ln/>
        </p:spPr>
      </p:sp>
      <p:sp>
        <p:nvSpPr>
          <p:cNvPr id="6" name="Text 3"/>
          <p:cNvSpPr/>
          <p:nvPr/>
        </p:nvSpPr>
        <p:spPr>
          <a:xfrm>
            <a:off x="8046720" y="4754880"/>
            <a:ext cx="822960" cy="228600"/>
          </a:xfrm>
          <a:prstGeom prst="rect">
            <a:avLst/>
          </a:prstGeom>
          <a:noFill/>
          <a:ln/>
        </p:spPr>
        <p:txBody>
          <a:bodyPr wrap="square" lIns="0" tIns="0" rIns="0" bIns="0" rtlCol="0" anchor="ctr"/>
          <a:lstStyle/>
          <a:p>
            <a:pPr marL="0" indent="0" algn="r">
              <a:buNone/>
            </a:pPr>
            <a:r>
              <a:rPr lang="en-US" sz="900" dirty="0">
                <a:solidFill>
                  <a:srgbClr val="8A9BB5"/>
                </a:solidFill>
              </a:rPr>
              <a:t>7 / 11</a:t>
            </a:r>
            <a:endParaRPr lang="en-US" sz="900" dirty="0"/>
          </a:p>
        </p:txBody>
      </p:sp>
      <p:sp>
        <p:nvSpPr>
          <p:cNvPr id="7" name="Text 4"/>
          <p:cNvSpPr/>
          <p:nvPr/>
        </p:nvSpPr>
        <p:spPr>
          <a:xfrm>
            <a:off x="411480" y="1115568"/>
            <a:ext cx="8321040" cy="274320"/>
          </a:xfrm>
          <a:prstGeom prst="rect">
            <a:avLst/>
          </a:prstGeom>
          <a:noFill/>
          <a:ln/>
        </p:spPr>
        <p:txBody>
          <a:bodyPr wrap="square" lIns="0" tIns="0" rIns="0" bIns="0" rtlCol="0" anchor="ctr"/>
          <a:lstStyle/>
          <a:p>
            <a:pPr marL="0" indent="0">
              <a:buNone/>
            </a:pPr>
            <a:r>
              <a:rPr lang="en-US" sz="1050" i="1" dirty="0">
                <a:solidFill>
                  <a:srgbClr val="5A6F8A"/>
                </a:solidFill>
                <a:latin typeface="Calibri" pitchFamily="34" charset="0"/>
                <a:ea typeface="Calibri" pitchFamily="34" charset="-122"/>
                <a:cs typeface="Calibri" pitchFamily="34" charset="-120"/>
              </a:rPr>
              <a:t>Live screenshots from our actual dashboard (connected to movie_rental_dw):</a:t>
            </a:r>
            <a:endParaRPr lang="en-US" sz="1050" dirty="0"/>
          </a:p>
        </p:txBody>
      </p:sp>
      <p:sp>
        <p:nvSpPr>
          <p:cNvPr id="8" name="Shape 5"/>
          <p:cNvSpPr/>
          <p:nvPr/>
        </p:nvSpPr>
        <p:spPr>
          <a:xfrm>
            <a:off x="411480" y="1417320"/>
            <a:ext cx="8321040" cy="2176272"/>
          </a:xfrm>
          <a:prstGeom prst="rect">
            <a:avLst/>
          </a:prstGeom>
          <a:solidFill>
            <a:srgbClr val="111111"/>
          </a:solidFill>
          <a:ln/>
          <a:effectLst>
            <a:outerShdw blurRad="127000" dist="25400" dir="8100000" algn="bl" rotWithShape="0">
              <a:srgbClr val="000000">
                <a:alpha val="20000"/>
              </a:srgbClr>
            </a:outerShdw>
          </a:effectLst>
        </p:spPr>
      </p:sp>
      <p:pic>
        <p:nvPicPr>
          <p:cNvPr id="9" name="Image 1" descr="preencoded.png"/>
          <p:cNvPicPr>
            <a:picLocks noChangeAspect="1"/>
          </p:cNvPicPr>
          <p:nvPr/>
        </p:nvPicPr>
        <p:blipFill>
          <a:blip r:embed="rId4"/>
          <a:srcRect/>
          <a:stretch/>
        </p:blipFill>
        <p:spPr>
          <a:xfrm>
            <a:off x="411480" y="1417320"/>
            <a:ext cx="8321040" cy="2176272"/>
          </a:xfrm>
          <a:prstGeom prst="rect">
            <a:avLst/>
          </a:prstGeom>
        </p:spPr>
      </p:pic>
      <p:sp>
        <p:nvSpPr>
          <p:cNvPr id="10" name="Shape 6"/>
          <p:cNvSpPr/>
          <p:nvPr/>
        </p:nvSpPr>
        <p:spPr>
          <a:xfrm>
            <a:off x="411480" y="3730752"/>
            <a:ext cx="8321040" cy="1207008"/>
          </a:xfrm>
          <a:prstGeom prst="rect">
            <a:avLst/>
          </a:prstGeom>
          <a:solidFill>
            <a:srgbClr val="111111"/>
          </a:solidFill>
          <a:ln/>
          <a:effectLst>
            <a:outerShdw blurRad="127000" dist="25400" dir="8100000" algn="bl" rotWithShape="0">
              <a:srgbClr val="000000">
                <a:alpha val="20000"/>
              </a:srgbClr>
            </a:outerShdw>
          </a:effectLst>
        </p:spPr>
      </p:sp>
      <p:pic>
        <p:nvPicPr>
          <p:cNvPr id="11" name="Image 2" descr="preencoded.png"/>
          <p:cNvPicPr>
            <a:picLocks noChangeAspect="1"/>
          </p:cNvPicPr>
          <p:nvPr/>
        </p:nvPicPr>
        <p:blipFill>
          <a:blip r:embed="rId5"/>
          <a:srcRect/>
          <a:stretch/>
        </p:blipFill>
        <p:spPr>
          <a:xfrm>
            <a:off x="411480" y="3730752"/>
            <a:ext cx="8321040" cy="12070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11480" y="274320"/>
            <a:ext cx="64008" cy="685800"/>
          </a:xfrm>
          <a:prstGeom prst="rect">
            <a:avLst/>
          </a:prstGeom>
          <a:solidFill>
            <a:srgbClr val="3A7BD5"/>
          </a:solidFill>
          <a:ln/>
        </p:spPr>
      </p:sp>
      <p:sp>
        <p:nvSpPr>
          <p:cNvPr id="3" name="Text 1"/>
          <p:cNvSpPr/>
          <p:nvPr/>
        </p:nvSpPr>
        <p:spPr>
          <a:xfrm>
            <a:off x="566928" y="256032"/>
            <a:ext cx="7772400" cy="731520"/>
          </a:xfrm>
          <a:prstGeom prst="rect">
            <a:avLst/>
          </a:prstGeom>
          <a:noFill/>
          <a:ln/>
        </p:spPr>
        <p:txBody>
          <a:bodyPr wrap="square" lIns="0" tIns="0" rIns="0" bIns="0" rtlCol="0" anchor="ctr"/>
          <a:lstStyle/>
          <a:p>
            <a:pPr marL="0" indent="0">
              <a:buNone/>
            </a:pPr>
            <a:r>
              <a:rPr lang="en-US" sz="2600" b="1" dirty="0">
                <a:solidFill>
                  <a:srgbClr val="1A2F5E"/>
                </a:solidFill>
                <a:latin typeface="Calibri" pitchFamily="34" charset="0"/>
                <a:ea typeface="Calibri" pitchFamily="34" charset="-122"/>
                <a:cs typeface="Calibri" pitchFamily="34" charset="-120"/>
              </a:rPr>
              <a:t>Results &amp; Business Insights</a:t>
            </a:r>
            <a:endParaRPr lang="en-US" sz="2600" dirty="0"/>
          </a:p>
        </p:txBody>
      </p:sp>
      <p:pic>
        <p:nvPicPr>
          <p:cNvPr id="4" name="Image 0" descr="preencoded.png"/>
          <p:cNvPicPr>
            <a:picLocks noChangeAspect="1"/>
          </p:cNvPicPr>
          <p:nvPr/>
        </p:nvPicPr>
        <p:blipFill>
          <a:blip r:embed="rId3"/>
          <a:stretch>
            <a:fillRect/>
          </a:stretch>
        </p:blipFill>
        <p:spPr>
          <a:xfrm>
            <a:off x="8321040" y="201168"/>
            <a:ext cx="502920" cy="502920"/>
          </a:xfrm>
          <a:prstGeom prst="rect">
            <a:avLst/>
          </a:prstGeom>
        </p:spPr>
      </p:pic>
      <p:sp>
        <p:nvSpPr>
          <p:cNvPr id="5" name="Shape 2"/>
          <p:cNvSpPr/>
          <p:nvPr/>
        </p:nvSpPr>
        <p:spPr>
          <a:xfrm>
            <a:off x="411480" y="1033272"/>
            <a:ext cx="8321040" cy="16459"/>
          </a:xfrm>
          <a:prstGeom prst="rect">
            <a:avLst/>
          </a:prstGeom>
          <a:solidFill>
            <a:srgbClr val="E8EEF6"/>
          </a:solidFill>
          <a:ln/>
        </p:spPr>
      </p:sp>
      <p:sp>
        <p:nvSpPr>
          <p:cNvPr id="6" name="Text 3"/>
          <p:cNvSpPr/>
          <p:nvPr/>
        </p:nvSpPr>
        <p:spPr>
          <a:xfrm>
            <a:off x="8046720" y="4754880"/>
            <a:ext cx="822960" cy="228600"/>
          </a:xfrm>
          <a:prstGeom prst="rect">
            <a:avLst/>
          </a:prstGeom>
          <a:noFill/>
          <a:ln/>
        </p:spPr>
        <p:txBody>
          <a:bodyPr wrap="square" lIns="0" tIns="0" rIns="0" bIns="0" rtlCol="0" anchor="ctr"/>
          <a:lstStyle/>
          <a:p>
            <a:pPr marL="0" indent="0" algn="r">
              <a:buNone/>
            </a:pPr>
            <a:r>
              <a:rPr lang="en-US" sz="900" dirty="0">
                <a:solidFill>
                  <a:srgbClr val="8A9BB5"/>
                </a:solidFill>
              </a:rPr>
              <a:t>8 / 11</a:t>
            </a:r>
            <a:endParaRPr lang="en-US" sz="900" dirty="0"/>
          </a:p>
        </p:txBody>
      </p:sp>
      <p:sp>
        <p:nvSpPr>
          <p:cNvPr id="7" name="Shape 4"/>
          <p:cNvSpPr/>
          <p:nvPr/>
        </p:nvSpPr>
        <p:spPr>
          <a:xfrm>
            <a:off x="411480" y="1188720"/>
            <a:ext cx="4069080" cy="1691640"/>
          </a:xfrm>
          <a:prstGeom prst="rect">
            <a:avLst/>
          </a:prstGeom>
          <a:solidFill>
            <a:srgbClr val="FFFFFF"/>
          </a:solidFill>
          <a:ln/>
          <a:effectLst>
            <a:outerShdw blurRad="101600" dist="25400" dir="8100000" algn="bl" rotWithShape="0">
              <a:srgbClr val="000000">
                <a:alpha val="10000"/>
              </a:srgbClr>
            </a:outerShdw>
          </a:effectLst>
        </p:spPr>
      </p:sp>
      <p:sp>
        <p:nvSpPr>
          <p:cNvPr id="8" name="Shape 5"/>
          <p:cNvSpPr/>
          <p:nvPr/>
        </p:nvSpPr>
        <p:spPr>
          <a:xfrm>
            <a:off x="411480" y="1188720"/>
            <a:ext cx="4069080" cy="64008"/>
          </a:xfrm>
          <a:prstGeom prst="rect">
            <a:avLst/>
          </a:prstGeom>
          <a:solidFill>
            <a:srgbClr val="1A2F5E"/>
          </a:solidFill>
          <a:ln/>
        </p:spPr>
      </p:sp>
      <p:sp>
        <p:nvSpPr>
          <p:cNvPr id="9" name="Shape 6"/>
          <p:cNvSpPr/>
          <p:nvPr/>
        </p:nvSpPr>
        <p:spPr>
          <a:xfrm>
            <a:off x="594360" y="1389888"/>
            <a:ext cx="548640" cy="548640"/>
          </a:xfrm>
          <a:prstGeom prst="ellipse">
            <a:avLst/>
          </a:prstGeom>
          <a:solidFill>
            <a:srgbClr val="1A2F5E"/>
          </a:solidFill>
          <a:ln/>
        </p:spPr>
      </p:sp>
      <p:pic>
        <p:nvPicPr>
          <p:cNvPr id="10" name="Image 1" descr="preencoded.png"/>
          <p:cNvPicPr>
            <a:picLocks noChangeAspect="1"/>
          </p:cNvPicPr>
          <p:nvPr/>
        </p:nvPicPr>
        <p:blipFill>
          <a:blip r:embed="rId4"/>
          <a:stretch>
            <a:fillRect/>
          </a:stretch>
        </p:blipFill>
        <p:spPr>
          <a:xfrm>
            <a:off x="640080" y="1435608"/>
            <a:ext cx="457200" cy="457200"/>
          </a:xfrm>
          <a:prstGeom prst="rect">
            <a:avLst/>
          </a:prstGeom>
        </p:spPr>
      </p:pic>
      <p:sp>
        <p:nvSpPr>
          <p:cNvPr id="11" name="Text 7"/>
          <p:cNvSpPr/>
          <p:nvPr/>
        </p:nvSpPr>
        <p:spPr>
          <a:xfrm>
            <a:off x="1234440" y="1389888"/>
            <a:ext cx="3063240" cy="411480"/>
          </a:xfrm>
          <a:prstGeom prst="rect">
            <a:avLst/>
          </a:prstGeom>
          <a:noFill/>
          <a:ln/>
        </p:spPr>
        <p:txBody>
          <a:bodyPr wrap="square" lIns="0" tIns="0" rIns="0" bIns="0" rtlCol="0" anchor="ctr"/>
          <a:lstStyle/>
          <a:p>
            <a:pPr marL="0" indent="0">
              <a:buNone/>
            </a:pPr>
            <a:r>
              <a:rPr lang="en-US" sz="1200" b="1" dirty="0">
                <a:solidFill>
                  <a:srgbClr val="1A2F5E"/>
                </a:solidFill>
                <a:latin typeface="Calibri" pitchFamily="34" charset="0"/>
                <a:ea typeface="Calibri" pitchFamily="34" charset="-122"/>
                <a:cs typeface="Calibri" pitchFamily="34" charset="-120"/>
              </a:rPr>
              <a:t>Movie Performance</a:t>
            </a:r>
            <a:endParaRPr lang="en-US" sz="1200" dirty="0"/>
          </a:p>
        </p:txBody>
      </p:sp>
      <p:sp>
        <p:nvSpPr>
          <p:cNvPr id="12" name="Text 8"/>
          <p:cNvSpPr/>
          <p:nvPr/>
        </p:nvSpPr>
        <p:spPr>
          <a:xfrm>
            <a:off x="576072" y="1965960"/>
            <a:ext cx="3739896" cy="804672"/>
          </a:xfrm>
          <a:prstGeom prst="rect">
            <a:avLst/>
          </a:prstGeom>
          <a:noFill/>
          <a:ln/>
        </p:spPr>
        <p:txBody>
          <a:bodyPr wrap="square" lIns="0" tIns="0" rIns="0" bIns="0" rtlCol="0" anchor="t"/>
          <a:lstStyle/>
          <a:p>
            <a:pPr marL="0" indent="0">
              <a:buNone/>
            </a:pPr>
            <a:r>
              <a:rPr lang="en-US" sz="1050" dirty="0">
                <a:solidFill>
                  <a:srgbClr val="1C2B4A"/>
                </a:solidFill>
                <a:latin typeface="Calibri" pitchFamily="34" charset="0"/>
                <a:ea typeface="Calibri" pitchFamily="34" charset="-122"/>
                <a:cs typeface="Calibri" pitchFamily="34" charset="-120"/>
              </a:rPr>
              <a:t>Top films like Bucket Brotherhood identified by rental count. Sports &amp; Sci-Fi lead revenue by category.</a:t>
            </a:r>
            <a:endParaRPr lang="en-US" sz="1050" dirty="0"/>
          </a:p>
        </p:txBody>
      </p:sp>
      <p:sp>
        <p:nvSpPr>
          <p:cNvPr id="13" name="Shape 9"/>
          <p:cNvSpPr/>
          <p:nvPr/>
        </p:nvSpPr>
        <p:spPr>
          <a:xfrm>
            <a:off x="4690872" y="1188720"/>
            <a:ext cx="4069080" cy="1691640"/>
          </a:xfrm>
          <a:prstGeom prst="rect">
            <a:avLst/>
          </a:prstGeom>
          <a:solidFill>
            <a:srgbClr val="FFFFFF"/>
          </a:solidFill>
          <a:ln/>
          <a:effectLst>
            <a:outerShdw blurRad="101600" dist="25400" dir="8100000" algn="bl" rotWithShape="0">
              <a:srgbClr val="000000">
                <a:alpha val="10000"/>
              </a:srgbClr>
            </a:outerShdw>
          </a:effectLst>
        </p:spPr>
      </p:sp>
      <p:sp>
        <p:nvSpPr>
          <p:cNvPr id="14" name="Shape 10"/>
          <p:cNvSpPr/>
          <p:nvPr/>
        </p:nvSpPr>
        <p:spPr>
          <a:xfrm>
            <a:off x="4690872" y="1188720"/>
            <a:ext cx="4069080" cy="64008"/>
          </a:xfrm>
          <a:prstGeom prst="rect">
            <a:avLst/>
          </a:prstGeom>
          <a:solidFill>
            <a:srgbClr val="3A7BD5"/>
          </a:solidFill>
          <a:ln/>
        </p:spPr>
      </p:sp>
      <p:sp>
        <p:nvSpPr>
          <p:cNvPr id="15" name="Shape 11"/>
          <p:cNvSpPr/>
          <p:nvPr/>
        </p:nvSpPr>
        <p:spPr>
          <a:xfrm>
            <a:off x="4873752" y="1389888"/>
            <a:ext cx="548640" cy="548640"/>
          </a:xfrm>
          <a:prstGeom prst="ellipse">
            <a:avLst/>
          </a:prstGeom>
          <a:solidFill>
            <a:srgbClr val="3A7BD5"/>
          </a:solidFill>
          <a:ln/>
        </p:spPr>
      </p:sp>
      <p:pic>
        <p:nvPicPr>
          <p:cNvPr id="16" name="Image 2" descr="preencoded.png"/>
          <p:cNvPicPr>
            <a:picLocks noChangeAspect="1"/>
          </p:cNvPicPr>
          <p:nvPr/>
        </p:nvPicPr>
        <p:blipFill>
          <a:blip r:embed="rId5"/>
          <a:stretch>
            <a:fillRect/>
          </a:stretch>
        </p:blipFill>
        <p:spPr>
          <a:xfrm>
            <a:off x="4919472" y="1435608"/>
            <a:ext cx="457200" cy="457200"/>
          </a:xfrm>
          <a:prstGeom prst="rect">
            <a:avLst/>
          </a:prstGeom>
        </p:spPr>
      </p:pic>
      <p:sp>
        <p:nvSpPr>
          <p:cNvPr id="17" name="Text 12"/>
          <p:cNvSpPr/>
          <p:nvPr/>
        </p:nvSpPr>
        <p:spPr>
          <a:xfrm>
            <a:off x="5513832" y="1389888"/>
            <a:ext cx="3063240" cy="411480"/>
          </a:xfrm>
          <a:prstGeom prst="rect">
            <a:avLst/>
          </a:prstGeom>
          <a:noFill/>
          <a:ln/>
        </p:spPr>
        <p:txBody>
          <a:bodyPr wrap="square" lIns="0" tIns="0" rIns="0" bIns="0" rtlCol="0" anchor="ctr"/>
          <a:lstStyle/>
          <a:p>
            <a:pPr marL="0" indent="0">
              <a:buNone/>
            </a:pPr>
            <a:r>
              <a:rPr lang="en-US" sz="1200" b="1" dirty="0">
                <a:solidFill>
                  <a:srgbClr val="1A2F5E"/>
                </a:solidFill>
                <a:latin typeface="Calibri" pitchFamily="34" charset="0"/>
                <a:ea typeface="Calibri" pitchFamily="34" charset="-122"/>
                <a:cs typeface="Calibri" pitchFamily="34" charset="-120"/>
              </a:rPr>
              <a:t>Customer Behavior</a:t>
            </a:r>
            <a:endParaRPr lang="en-US" sz="1200" dirty="0"/>
          </a:p>
        </p:txBody>
      </p:sp>
      <p:sp>
        <p:nvSpPr>
          <p:cNvPr id="18" name="Text 13"/>
          <p:cNvSpPr/>
          <p:nvPr/>
        </p:nvSpPr>
        <p:spPr>
          <a:xfrm>
            <a:off x="4855464" y="1965960"/>
            <a:ext cx="3739896" cy="804672"/>
          </a:xfrm>
          <a:prstGeom prst="rect">
            <a:avLst/>
          </a:prstGeom>
          <a:noFill/>
          <a:ln/>
        </p:spPr>
        <p:txBody>
          <a:bodyPr wrap="square" lIns="0" tIns="0" rIns="0" bIns="0" rtlCol="0" anchor="t"/>
          <a:lstStyle/>
          <a:p>
            <a:pPr marL="0" indent="0">
              <a:buNone/>
            </a:pPr>
            <a:r>
              <a:rPr lang="en-US" sz="1050" dirty="0">
                <a:solidFill>
                  <a:srgbClr val="1C2B4A"/>
                </a:solidFill>
                <a:latin typeface="Calibri" pitchFamily="34" charset="0"/>
                <a:ea typeface="Calibri" pitchFamily="34" charset="-122"/>
                <a:cs typeface="Calibri" pitchFamily="34" charset="-120"/>
              </a:rPr>
              <a:t>599 active customers tracked. High-value customers identified by total spending across 16,044 rentals.</a:t>
            </a:r>
            <a:endParaRPr lang="en-US" sz="1050" dirty="0"/>
          </a:p>
        </p:txBody>
      </p:sp>
      <p:sp>
        <p:nvSpPr>
          <p:cNvPr id="19" name="Shape 14"/>
          <p:cNvSpPr/>
          <p:nvPr/>
        </p:nvSpPr>
        <p:spPr>
          <a:xfrm>
            <a:off x="411480" y="3035808"/>
            <a:ext cx="4069080" cy="1691640"/>
          </a:xfrm>
          <a:prstGeom prst="rect">
            <a:avLst/>
          </a:prstGeom>
          <a:solidFill>
            <a:srgbClr val="FFFFFF"/>
          </a:solidFill>
          <a:ln/>
          <a:effectLst>
            <a:outerShdw blurRad="101600" dist="25400" dir="8100000" algn="bl" rotWithShape="0">
              <a:srgbClr val="000000">
                <a:alpha val="10000"/>
              </a:srgbClr>
            </a:outerShdw>
          </a:effectLst>
        </p:spPr>
      </p:sp>
      <p:sp>
        <p:nvSpPr>
          <p:cNvPr id="20" name="Shape 15"/>
          <p:cNvSpPr/>
          <p:nvPr/>
        </p:nvSpPr>
        <p:spPr>
          <a:xfrm>
            <a:off x="411480" y="3035808"/>
            <a:ext cx="4069080" cy="64008"/>
          </a:xfrm>
          <a:prstGeom prst="rect">
            <a:avLst/>
          </a:prstGeom>
          <a:solidFill>
            <a:srgbClr val="1A7A9A"/>
          </a:solidFill>
          <a:ln/>
        </p:spPr>
      </p:sp>
      <p:sp>
        <p:nvSpPr>
          <p:cNvPr id="21" name="Shape 16"/>
          <p:cNvSpPr/>
          <p:nvPr/>
        </p:nvSpPr>
        <p:spPr>
          <a:xfrm>
            <a:off x="594360" y="3236976"/>
            <a:ext cx="548640" cy="548640"/>
          </a:xfrm>
          <a:prstGeom prst="ellipse">
            <a:avLst/>
          </a:prstGeom>
          <a:solidFill>
            <a:srgbClr val="1A7A9A"/>
          </a:solidFill>
          <a:ln/>
        </p:spPr>
      </p:sp>
      <p:pic>
        <p:nvPicPr>
          <p:cNvPr id="22" name="Image 3" descr="preencoded.png"/>
          <p:cNvPicPr>
            <a:picLocks noChangeAspect="1"/>
          </p:cNvPicPr>
          <p:nvPr/>
        </p:nvPicPr>
        <p:blipFill>
          <a:blip r:embed="rId6"/>
          <a:stretch>
            <a:fillRect/>
          </a:stretch>
        </p:blipFill>
        <p:spPr>
          <a:xfrm>
            <a:off x="640080" y="3282696"/>
            <a:ext cx="457200" cy="457200"/>
          </a:xfrm>
          <a:prstGeom prst="rect">
            <a:avLst/>
          </a:prstGeom>
        </p:spPr>
      </p:pic>
      <p:sp>
        <p:nvSpPr>
          <p:cNvPr id="23" name="Text 17"/>
          <p:cNvSpPr/>
          <p:nvPr/>
        </p:nvSpPr>
        <p:spPr>
          <a:xfrm>
            <a:off x="1234440" y="3236976"/>
            <a:ext cx="3063240" cy="411480"/>
          </a:xfrm>
          <a:prstGeom prst="rect">
            <a:avLst/>
          </a:prstGeom>
          <a:noFill/>
          <a:ln/>
        </p:spPr>
        <p:txBody>
          <a:bodyPr wrap="square" lIns="0" tIns="0" rIns="0" bIns="0" rtlCol="0" anchor="ctr"/>
          <a:lstStyle/>
          <a:p>
            <a:pPr marL="0" indent="0">
              <a:buNone/>
            </a:pPr>
            <a:r>
              <a:rPr lang="en-US" sz="1200" b="1" dirty="0">
                <a:solidFill>
                  <a:srgbClr val="1A2F5E"/>
                </a:solidFill>
                <a:latin typeface="Calibri" pitchFamily="34" charset="0"/>
                <a:ea typeface="Calibri" pitchFamily="34" charset="-122"/>
                <a:cs typeface="Calibri" pitchFamily="34" charset="-120"/>
              </a:rPr>
              <a:t>Store Performance</a:t>
            </a:r>
            <a:endParaRPr lang="en-US" sz="1200" dirty="0"/>
          </a:p>
        </p:txBody>
      </p:sp>
      <p:sp>
        <p:nvSpPr>
          <p:cNvPr id="24" name="Text 18"/>
          <p:cNvSpPr/>
          <p:nvPr/>
        </p:nvSpPr>
        <p:spPr>
          <a:xfrm>
            <a:off x="576072" y="3813048"/>
            <a:ext cx="3739896" cy="804672"/>
          </a:xfrm>
          <a:prstGeom prst="rect">
            <a:avLst/>
          </a:prstGeom>
          <a:noFill/>
          <a:ln/>
        </p:spPr>
        <p:txBody>
          <a:bodyPr wrap="square" lIns="0" tIns="0" rIns="0" bIns="0" rtlCol="0" anchor="t"/>
          <a:lstStyle/>
          <a:p>
            <a:pPr marL="0" indent="0">
              <a:buNone/>
            </a:pPr>
            <a:r>
              <a:rPr lang="en-US" sz="1050" dirty="0">
                <a:solidFill>
                  <a:srgbClr val="1C2B4A"/>
                </a:solidFill>
                <a:latin typeface="Calibri" pitchFamily="34" charset="0"/>
                <a:ea typeface="Calibri" pitchFamily="34" charset="-122"/>
                <a:cs typeface="Calibri" pitchFamily="34" charset="-120"/>
              </a:rPr>
              <a:t>Revenue and rental volume measurable per store across 2 locations, supporting management evaluation.</a:t>
            </a:r>
            <a:endParaRPr lang="en-US" sz="1050" dirty="0"/>
          </a:p>
        </p:txBody>
      </p:sp>
      <p:sp>
        <p:nvSpPr>
          <p:cNvPr id="25" name="Shape 19"/>
          <p:cNvSpPr/>
          <p:nvPr/>
        </p:nvSpPr>
        <p:spPr>
          <a:xfrm>
            <a:off x="4690872" y="3035808"/>
            <a:ext cx="4069080" cy="1691640"/>
          </a:xfrm>
          <a:prstGeom prst="rect">
            <a:avLst/>
          </a:prstGeom>
          <a:solidFill>
            <a:srgbClr val="FFFFFF"/>
          </a:solidFill>
          <a:ln/>
          <a:effectLst>
            <a:outerShdw blurRad="101600" dist="25400" dir="8100000" algn="bl" rotWithShape="0">
              <a:srgbClr val="000000">
                <a:alpha val="10000"/>
              </a:srgbClr>
            </a:outerShdw>
          </a:effectLst>
        </p:spPr>
      </p:sp>
      <p:sp>
        <p:nvSpPr>
          <p:cNvPr id="26" name="Shape 20"/>
          <p:cNvSpPr/>
          <p:nvPr/>
        </p:nvSpPr>
        <p:spPr>
          <a:xfrm>
            <a:off x="4690872" y="3035808"/>
            <a:ext cx="4069080" cy="64008"/>
          </a:xfrm>
          <a:prstGeom prst="rect">
            <a:avLst/>
          </a:prstGeom>
          <a:solidFill>
            <a:srgbClr val="E8A917"/>
          </a:solidFill>
          <a:ln/>
        </p:spPr>
      </p:sp>
      <p:sp>
        <p:nvSpPr>
          <p:cNvPr id="27" name="Shape 21"/>
          <p:cNvSpPr/>
          <p:nvPr/>
        </p:nvSpPr>
        <p:spPr>
          <a:xfrm>
            <a:off x="4873752" y="3236976"/>
            <a:ext cx="548640" cy="548640"/>
          </a:xfrm>
          <a:prstGeom prst="ellipse">
            <a:avLst/>
          </a:prstGeom>
          <a:solidFill>
            <a:srgbClr val="E8A917"/>
          </a:solidFill>
          <a:ln/>
        </p:spPr>
      </p:sp>
      <p:pic>
        <p:nvPicPr>
          <p:cNvPr id="28" name="Image 4" descr="preencoded.png"/>
          <p:cNvPicPr>
            <a:picLocks noChangeAspect="1"/>
          </p:cNvPicPr>
          <p:nvPr/>
        </p:nvPicPr>
        <p:blipFill>
          <a:blip r:embed="rId7"/>
          <a:stretch>
            <a:fillRect/>
          </a:stretch>
        </p:blipFill>
        <p:spPr>
          <a:xfrm>
            <a:off x="4919472" y="3282696"/>
            <a:ext cx="457200" cy="457200"/>
          </a:xfrm>
          <a:prstGeom prst="rect">
            <a:avLst/>
          </a:prstGeom>
        </p:spPr>
      </p:pic>
      <p:sp>
        <p:nvSpPr>
          <p:cNvPr id="29" name="Text 22"/>
          <p:cNvSpPr/>
          <p:nvPr/>
        </p:nvSpPr>
        <p:spPr>
          <a:xfrm>
            <a:off x="5513832" y="3236976"/>
            <a:ext cx="3063240" cy="411480"/>
          </a:xfrm>
          <a:prstGeom prst="rect">
            <a:avLst/>
          </a:prstGeom>
          <a:noFill/>
          <a:ln/>
        </p:spPr>
        <p:txBody>
          <a:bodyPr wrap="square" lIns="0" tIns="0" rIns="0" bIns="0" rtlCol="0" anchor="ctr"/>
          <a:lstStyle/>
          <a:p>
            <a:pPr marL="0" indent="0">
              <a:buNone/>
            </a:pPr>
            <a:r>
              <a:rPr lang="en-US" sz="1200" b="1" dirty="0">
                <a:solidFill>
                  <a:srgbClr val="1A2F5E"/>
                </a:solidFill>
                <a:latin typeface="Calibri" pitchFamily="34" charset="0"/>
                <a:ea typeface="Calibri" pitchFamily="34" charset="-122"/>
                <a:cs typeface="Calibri" pitchFamily="34" charset="-120"/>
              </a:rPr>
              <a:t>Revenue Insights</a:t>
            </a:r>
            <a:endParaRPr lang="en-US" sz="1200" dirty="0"/>
          </a:p>
        </p:txBody>
      </p:sp>
      <p:sp>
        <p:nvSpPr>
          <p:cNvPr id="30" name="Text 23"/>
          <p:cNvSpPr/>
          <p:nvPr/>
        </p:nvSpPr>
        <p:spPr>
          <a:xfrm>
            <a:off x="4855464" y="3813048"/>
            <a:ext cx="3739896" cy="804672"/>
          </a:xfrm>
          <a:prstGeom prst="rect">
            <a:avLst/>
          </a:prstGeom>
          <a:noFill/>
          <a:ln/>
        </p:spPr>
        <p:txBody>
          <a:bodyPr wrap="square" lIns="0" tIns="0" rIns="0" bIns="0" rtlCol="0" anchor="t"/>
          <a:lstStyle/>
          <a:p>
            <a:pPr marL="0" indent="0">
              <a:buNone/>
            </a:pPr>
            <a:r>
              <a:rPr lang="en-US" sz="1050" dirty="0">
                <a:solidFill>
                  <a:srgbClr val="1C2B4A"/>
                </a:solidFill>
                <a:latin typeface="Calibri" pitchFamily="34" charset="0"/>
                <a:ea typeface="Calibri" pitchFamily="34" charset="-122"/>
                <a:cs typeface="Calibri" pitchFamily="34" charset="-120"/>
              </a:rPr>
              <a:t>$67,406 total revenue stored and queryable. Trends, peaks, and category breakdowns available for planning.</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11480" y="274320"/>
            <a:ext cx="64008" cy="685800"/>
          </a:xfrm>
          <a:prstGeom prst="rect">
            <a:avLst/>
          </a:prstGeom>
          <a:solidFill>
            <a:srgbClr val="3A7BD5"/>
          </a:solidFill>
          <a:ln/>
        </p:spPr>
      </p:sp>
      <p:sp>
        <p:nvSpPr>
          <p:cNvPr id="3" name="Text 1"/>
          <p:cNvSpPr/>
          <p:nvPr/>
        </p:nvSpPr>
        <p:spPr>
          <a:xfrm>
            <a:off x="566928" y="256032"/>
            <a:ext cx="7772400" cy="731520"/>
          </a:xfrm>
          <a:prstGeom prst="rect">
            <a:avLst/>
          </a:prstGeom>
          <a:noFill/>
          <a:ln/>
        </p:spPr>
        <p:txBody>
          <a:bodyPr wrap="square" lIns="0" tIns="0" rIns="0" bIns="0" rtlCol="0" anchor="ctr"/>
          <a:lstStyle/>
          <a:p>
            <a:pPr marL="0" indent="0">
              <a:buNone/>
            </a:pPr>
            <a:r>
              <a:rPr lang="en-US" sz="2600" b="1" dirty="0">
                <a:solidFill>
                  <a:srgbClr val="1A2F5E"/>
                </a:solidFill>
                <a:latin typeface="Calibri" pitchFamily="34" charset="0"/>
                <a:ea typeface="Calibri" pitchFamily="34" charset="-122"/>
                <a:cs typeface="Calibri" pitchFamily="34" charset="-120"/>
              </a:rPr>
              <a:t>Project Challenges</a:t>
            </a:r>
            <a:endParaRPr lang="en-US" sz="2600" dirty="0"/>
          </a:p>
        </p:txBody>
      </p:sp>
      <p:pic>
        <p:nvPicPr>
          <p:cNvPr id="4" name="Image 0" descr="preencoded.png"/>
          <p:cNvPicPr>
            <a:picLocks noChangeAspect="1"/>
          </p:cNvPicPr>
          <p:nvPr/>
        </p:nvPicPr>
        <p:blipFill>
          <a:blip r:embed="rId3"/>
          <a:stretch>
            <a:fillRect/>
          </a:stretch>
        </p:blipFill>
        <p:spPr>
          <a:xfrm>
            <a:off x="8321040" y="201168"/>
            <a:ext cx="502920" cy="502920"/>
          </a:xfrm>
          <a:prstGeom prst="rect">
            <a:avLst/>
          </a:prstGeom>
        </p:spPr>
      </p:pic>
      <p:sp>
        <p:nvSpPr>
          <p:cNvPr id="5" name="Shape 2"/>
          <p:cNvSpPr/>
          <p:nvPr/>
        </p:nvSpPr>
        <p:spPr>
          <a:xfrm>
            <a:off x="411480" y="1033272"/>
            <a:ext cx="8321040" cy="16459"/>
          </a:xfrm>
          <a:prstGeom prst="rect">
            <a:avLst/>
          </a:prstGeom>
          <a:solidFill>
            <a:srgbClr val="E8EEF6"/>
          </a:solidFill>
          <a:ln/>
        </p:spPr>
      </p:sp>
      <p:sp>
        <p:nvSpPr>
          <p:cNvPr id="6" name="Text 3"/>
          <p:cNvSpPr/>
          <p:nvPr/>
        </p:nvSpPr>
        <p:spPr>
          <a:xfrm>
            <a:off x="8046720" y="4754880"/>
            <a:ext cx="822960" cy="228600"/>
          </a:xfrm>
          <a:prstGeom prst="rect">
            <a:avLst/>
          </a:prstGeom>
          <a:noFill/>
          <a:ln/>
        </p:spPr>
        <p:txBody>
          <a:bodyPr wrap="square" lIns="0" tIns="0" rIns="0" bIns="0" rtlCol="0" anchor="ctr"/>
          <a:lstStyle/>
          <a:p>
            <a:pPr marL="0" indent="0" algn="r">
              <a:buNone/>
            </a:pPr>
            <a:r>
              <a:rPr lang="en-US" sz="900" dirty="0">
                <a:solidFill>
                  <a:srgbClr val="8A9BB5"/>
                </a:solidFill>
              </a:rPr>
              <a:t>9 / 11</a:t>
            </a:r>
            <a:endParaRPr lang="en-US" sz="900" dirty="0"/>
          </a:p>
        </p:txBody>
      </p:sp>
      <p:sp>
        <p:nvSpPr>
          <p:cNvPr id="7" name="Shape 4"/>
          <p:cNvSpPr/>
          <p:nvPr/>
        </p:nvSpPr>
        <p:spPr>
          <a:xfrm>
            <a:off x="411480" y="1170432"/>
            <a:ext cx="8321040" cy="640080"/>
          </a:xfrm>
          <a:prstGeom prst="rect">
            <a:avLst/>
          </a:prstGeom>
          <a:solidFill>
            <a:srgbClr val="FFFFFF"/>
          </a:solidFill>
          <a:ln/>
          <a:effectLst>
            <a:outerShdw blurRad="76200" dist="12700" dir="8100000" algn="bl" rotWithShape="0">
              <a:srgbClr val="000000">
                <a:alpha val="7000"/>
              </a:srgbClr>
            </a:outerShdw>
          </a:effectLst>
        </p:spPr>
      </p:sp>
      <p:sp>
        <p:nvSpPr>
          <p:cNvPr id="8" name="Shape 5"/>
          <p:cNvSpPr/>
          <p:nvPr/>
        </p:nvSpPr>
        <p:spPr>
          <a:xfrm>
            <a:off x="502920" y="1243584"/>
            <a:ext cx="493776" cy="493776"/>
          </a:xfrm>
          <a:prstGeom prst="ellipse">
            <a:avLst/>
          </a:prstGeom>
          <a:solidFill>
            <a:srgbClr val="1A2F5E"/>
          </a:solidFill>
          <a:ln/>
        </p:spPr>
      </p:sp>
      <p:sp>
        <p:nvSpPr>
          <p:cNvPr id="9" name="Text 6"/>
          <p:cNvSpPr/>
          <p:nvPr/>
        </p:nvSpPr>
        <p:spPr>
          <a:xfrm>
            <a:off x="502920" y="1261872"/>
            <a:ext cx="493776"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7"/>
          <p:cNvSpPr/>
          <p:nvPr/>
        </p:nvSpPr>
        <p:spPr>
          <a:xfrm>
            <a:off x="1097280" y="1243584"/>
            <a:ext cx="2743200" cy="256032"/>
          </a:xfrm>
          <a:prstGeom prst="rect">
            <a:avLst/>
          </a:prstGeom>
          <a:noFill/>
          <a:ln/>
        </p:spPr>
        <p:txBody>
          <a:bodyPr wrap="square" lIns="0" tIns="0" rIns="0" bIns="0" rtlCol="0" anchor="ctr"/>
          <a:lstStyle/>
          <a:p>
            <a:pPr marL="0" indent="0">
              <a:buNone/>
            </a:pPr>
            <a:r>
              <a:rPr lang="en-US" sz="1150" b="1" dirty="0">
                <a:solidFill>
                  <a:srgbClr val="1A2F5E"/>
                </a:solidFill>
                <a:latin typeface="Calibri" pitchFamily="34" charset="0"/>
                <a:ea typeface="Calibri" pitchFamily="34" charset="-122"/>
                <a:cs typeface="Calibri" pitchFamily="34" charset="-120"/>
              </a:rPr>
              <a:t>Understanding the OLTP Schema</a:t>
            </a:r>
            <a:endParaRPr lang="en-US" sz="1150" dirty="0"/>
          </a:p>
        </p:txBody>
      </p:sp>
      <p:sp>
        <p:nvSpPr>
          <p:cNvPr id="11" name="Text 8"/>
          <p:cNvSpPr/>
          <p:nvPr/>
        </p:nvSpPr>
        <p:spPr>
          <a:xfrm>
            <a:off x="1097280" y="1499616"/>
            <a:ext cx="7406640" cy="256032"/>
          </a:xfrm>
          <a:prstGeom prst="rect">
            <a:avLst/>
          </a:prstGeom>
          <a:noFill/>
          <a:ln/>
        </p:spPr>
        <p:txBody>
          <a:bodyPr wrap="square" lIns="0" tIns="0" rIns="0" bIns="0" rtlCol="0" anchor="ctr"/>
          <a:lstStyle/>
          <a:p>
            <a:pPr marL="0" indent="0">
              <a:buNone/>
            </a:pPr>
            <a:r>
              <a:rPr lang="en-US" sz="1000" dirty="0">
                <a:solidFill>
                  <a:srgbClr val="5A6F8A"/>
                </a:solidFill>
                <a:latin typeface="Calibri" pitchFamily="34" charset="0"/>
                <a:ea typeface="Calibri" pitchFamily="34" charset="-122"/>
                <a:cs typeface="Calibri" pitchFamily="34" charset="-120"/>
              </a:rPr>
              <a:t>Mapping all 16 Sakila tables and understanding their relationships before designing the DW.</a:t>
            </a:r>
            <a:endParaRPr lang="en-US" sz="1000" dirty="0"/>
          </a:p>
        </p:txBody>
      </p:sp>
      <p:sp>
        <p:nvSpPr>
          <p:cNvPr id="12" name="Shape 9"/>
          <p:cNvSpPr/>
          <p:nvPr/>
        </p:nvSpPr>
        <p:spPr>
          <a:xfrm>
            <a:off x="411480" y="1892808"/>
            <a:ext cx="8321040" cy="640080"/>
          </a:xfrm>
          <a:prstGeom prst="rect">
            <a:avLst/>
          </a:prstGeom>
          <a:solidFill>
            <a:srgbClr val="FFFFFF"/>
          </a:solidFill>
          <a:ln/>
          <a:effectLst>
            <a:outerShdw blurRad="76200" dist="12700" dir="8100000" algn="bl" rotWithShape="0">
              <a:srgbClr val="000000">
                <a:alpha val="7000"/>
              </a:srgbClr>
            </a:outerShdw>
          </a:effectLst>
        </p:spPr>
      </p:sp>
      <p:sp>
        <p:nvSpPr>
          <p:cNvPr id="13" name="Shape 10"/>
          <p:cNvSpPr/>
          <p:nvPr/>
        </p:nvSpPr>
        <p:spPr>
          <a:xfrm>
            <a:off x="502920" y="1965960"/>
            <a:ext cx="493776" cy="493776"/>
          </a:xfrm>
          <a:prstGeom prst="ellipse">
            <a:avLst/>
          </a:prstGeom>
          <a:solidFill>
            <a:srgbClr val="3A7BD5"/>
          </a:solidFill>
          <a:ln/>
        </p:spPr>
      </p:sp>
      <p:sp>
        <p:nvSpPr>
          <p:cNvPr id="14" name="Text 11"/>
          <p:cNvSpPr/>
          <p:nvPr/>
        </p:nvSpPr>
        <p:spPr>
          <a:xfrm>
            <a:off x="502920" y="1984248"/>
            <a:ext cx="493776"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2"/>
          <p:cNvSpPr/>
          <p:nvPr/>
        </p:nvSpPr>
        <p:spPr>
          <a:xfrm>
            <a:off x="1097280" y="1965960"/>
            <a:ext cx="2743200" cy="256032"/>
          </a:xfrm>
          <a:prstGeom prst="rect">
            <a:avLst/>
          </a:prstGeom>
          <a:noFill/>
          <a:ln/>
        </p:spPr>
        <p:txBody>
          <a:bodyPr wrap="square" lIns="0" tIns="0" rIns="0" bIns="0" rtlCol="0" anchor="ctr"/>
          <a:lstStyle/>
          <a:p>
            <a:pPr marL="0" indent="0">
              <a:buNone/>
            </a:pPr>
            <a:r>
              <a:rPr lang="en-US" sz="1150" b="1" dirty="0">
                <a:solidFill>
                  <a:srgbClr val="1A2F5E"/>
                </a:solidFill>
                <a:latin typeface="Calibri" pitchFamily="34" charset="0"/>
                <a:ea typeface="Calibri" pitchFamily="34" charset="-122"/>
                <a:cs typeface="Calibri" pitchFamily="34" charset="-120"/>
              </a:rPr>
              <a:t>Choosing the Right Grain</a:t>
            </a:r>
            <a:endParaRPr lang="en-US" sz="1150" dirty="0"/>
          </a:p>
        </p:txBody>
      </p:sp>
      <p:sp>
        <p:nvSpPr>
          <p:cNvPr id="16" name="Text 13"/>
          <p:cNvSpPr/>
          <p:nvPr/>
        </p:nvSpPr>
        <p:spPr>
          <a:xfrm>
            <a:off x="1097280" y="2221992"/>
            <a:ext cx="7406640" cy="256032"/>
          </a:xfrm>
          <a:prstGeom prst="rect">
            <a:avLst/>
          </a:prstGeom>
          <a:noFill/>
          <a:ln/>
        </p:spPr>
        <p:txBody>
          <a:bodyPr wrap="square" lIns="0" tIns="0" rIns="0" bIns="0" rtlCol="0" anchor="ctr"/>
          <a:lstStyle/>
          <a:p>
            <a:pPr marL="0" indent="0">
              <a:buNone/>
            </a:pPr>
            <a:r>
              <a:rPr lang="en-US" sz="1000" dirty="0">
                <a:solidFill>
                  <a:srgbClr val="5A6F8A"/>
                </a:solidFill>
                <a:latin typeface="Calibri" pitchFamily="34" charset="0"/>
                <a:ea typeface="Calibri" pitchFamily="34" charset="-122"/>
                <a:cs typeface="Calibri" pitchFamily="34" charset="-120"/>
              </a:rPr>
              <a:t>Deciding whether the fact table should be at the payment or rental level required careful analysis.</a:t>
            </a:r>
            <a:endParaRPr lang="en-US" sz="1000" dirty="0"/>
          </a:p>
        </p:txBody>
      </p:sp>
      <p:sp>
        <p:nvSpPr>
          <p:cNvPr id="17" name="Shape 14"/>
          <p:cNvSpPr/>
          <p:nvPr/>
        </p:nvSpPr>
        <p:spPr>
          <a:xfrm>
            <a:off x="411480" y="2615184"/>
            <a:ext cx="8321040" cy="640080"/>
          </a:xfrm>
          <a:prstGeom prst="rect">
            <a:avLst/>
          </a:prstGeom>
          <a:solidFill>
            <a:srgbClr val="FFFFFF"/>
          </a:solidFill>
          <a:ln/>
          <a:effectLst>
            <a:outerShdw blurRad="76200" dist="12700" dir="8100000" algn="bl" rotWithShape="0">
              <a:srgbClr val="000000">
                <a:alpha val="7000"/>
              </a:srgbClr>
            </a:outerShdw>
          </a:effectLst>
        </p:spPr>
      </p:sp>
      <p:sp>
        <p:nvSpPr>
          <p:cNvPr id="18" name="Shape 15"/>
          <p:cNvSpPr/>
          <p:nvPr/>
        </p:nvSpPr>
        <p:spPr>
          <a:xfrm>
            <a:off x="502920" y="2688336"/>
            <a:ext cx="493776" cy="493776"/>
          </a:xfrm>
          <a:prstGeom prst="ellipse">
            <a:avLst/>
          </a:prstGeom>
          <a:solidFill>
            <a:srgbClr val="1A7A9A"/>
          </a:solidFill>
          <a:ln/>
        </p:spPr>
      </p:sp>
      <p:sp>
        <p:nvSpPr>
          <p:cNvPr id="19" name="Text 16"/>
          <p:cNvSpPr/>
          <p:nvPr/>
        </p:nvSpPr>
        <p:spPr>
          <a:xfrm>
            <a:off x="502920" y="2706624"/>
            <a:ext cx="493776"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7"/>
          <p:cNvSpPr/>
          <p:nvPr/>
        </p:nvSpPr>
        <p:spPr>
          <a:xfrm>
            <a:off x="1097280" y="2688336"/>
            <a:ext cx="2743200" cy="256032"/>
          </a:xfrm>
          <a:prstGeom prst="rect">
            <a:avLst/>
          </a:prstGeom>
          <a:noFill/>
          <a:ln/>
        </p:spPr>
        <p:txBody>
          <a:bodyPr wrap="square" lIns="0" tIns="0" rIns="0" bIns="0" rtlCol="0" anchor="ctr"/>
          <a:lstStyle/>
          <a:p>
            <a:pPr marL="0" indent="0">
              <a:buNone/>
            </a:pPr>
            <a:r>
              <a:rPr lang="en-US" sz="1150" b="1" dirty="0">
                <a:solidFill>
                  <a:srgbClr val="1A2F5E"/>
                </a:solidFill>
                <a:latin typeface="Calibri" pitchFamily="34" charset="0"/>
                <a:ea typeface="Calibri" pitchFamily="34" charset="-122"/>
                <a:cs typeface="Calibri" pitchFamily="34" charset="-120"/>
              </a:rPr>
              <a:t>ETL Transformations</a:t>
            </a:r>
            <a:endParaRPr lang="en-US" sz="1150" dirty="0"/>
          </a:p>
        </p:txBody>
      </p:sp>
      <p:sp>
        <p:nvSpPr>
          <p:cNvPr id="21" name="Text 18"/>
          <p:cNvSpPr/>
          <p:nvPr/>
        </p:nvSpPr>
        <p:spPr>
          <a:xfrm>
            <a:off x="1097280" y="2944368"/>
            <a:ext cx="7406640" cy="256032"/>
          </a:xfrm>
          <a:prstGeom prst="rect">
            <a:avLst/>
          </a:prstGeom>
          <a:noFill/>
          <a:ln/>
        </p:spPr>
        <p:txBody>
          <a:bodyPr wrap="square" lIns="0" tIns="0" rIns="0" bIns="0" rtlCol="0" anchor="ctr"/>
          <a:lstStyle/>
          <a:p>
            <a:pPr marL="0" indent="0">
              <a:buNone/>
            </a:pPr>
            <a:r>
              <a:rPr lang="en-US" sz="1000" dirty="0">
                <a:solidFill>
                  <a:srgbClr val="5A6F8A"/>
                </a:solidFill>
                <a:latin typeface="Calibri" pitchFamily="34" charset="0"/>
                <a:ea typeface="Calibri" pitchFamily="34" charset="-122"/>
                <a:cs typeface="Calibri" pitchFamily="34" charset="-120"/>
              </a:rPr>
              <a:t>Handling NULL values, generating surrogate keys, and joining multiple tables without errors.</a:t>
            </a:r>
            <a:endParaRPr lang="en-US" sz="1000" dirty="0"/>
          </a:p>
        </p:txBody>
      </p:sp>
      <p:sp>
        <p:nvSpPr>
          <p:cNvPr id="22" name="Shape 19"/>
          <p:cNvSpPr/>
          <p:nvPr/>
        </p:nvSpPr>
        <p:spPr>
          <a:xfrm>
            <a:off x="411480" y="3337560"/>
            <a:ext cx="8321040" cy="640080"/>
          </a:xfrm>
          <a:prstGeom prst="rect">
            <a:avLst/>
          </a:prstGeom>
          <a:solidFill>
            <a:srgbClr val="FFFFFF"/>
          </a:solidFill>
          <a:ln/>
          <a:effectLst>
            <a:outerShdw blurRad="76200" dist="12700" dir="8100000" algn="bl" rotWithShape="0">
              <a:srgbClr val="000000">
                <a:alpha val="7000"/>
              </a:srgbClr>
            </a:outerShdw>
          </a:effectLst>
        </p:spPr>
      </p:sp>
      <p:sp>
        <p:nvSpPr>
          <p:cNvPr id="23" name="Shape 20"/>
          <p:cNvSpPr/>
          <p:nvPr/>
        </p:nvSpPr>
        <p:spPr>
          <a:xfrm>
            <a:off x="502920" y="3410712"/>
            <a:ext cx="493776" cy="493776"/>
          </a:xfrm>
          <a:prstGeom prst="ellipse">
            <a:avLst/>
          </a:prstGeom>
          <a:solidFill>
            <a:srgbClr val="8E44AD"/>
          </a:solidFill>
          <a:ln/>
        </p:spPr>
      </p:sp>
      <p:sp>
        <p:nvSpPr>
          <p:cNvPr id="24" name="Text 21"/>
          <p:cNvSpPr/>
          <p:nvPr/>
        </p:nvSpPr>
        <p:spPr>
          <a:xfrm>
            <a:off x="502920" y="3429000"/>
            <a:ext cx="493776"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2"/>
          <p:cNvSpPr/>
          <p:nvPr/>
        </p:nvSpPr>
        <p:spPr>
          <a:xfrm>
            <a:off x="1097280" y="3410712"/>
            <a:ext cx="2743200" cy="256032"/>
          </a:xfrm>
          <a:prstGeom prst="rect">
            <a:avLst/>
          </a:prstGeom>
          <a:noFill/>
          <a:ln/>
        </p:spPr>
        <p:txBody>
          <a:bodyPr wrap="square" lIns="0" tIns="0" rIns="0" bIns="0" rtlCol="0" anchor="ctr"/>
          <a:lstStyle/>
          <a:p>
            <a:pPr marL="0" indent="0">
              <a:buNone/>
            </a:pPr>
            <a:r>
              <a:rPr lang="en-US" sz="1150" b="1" dirty="0">
                <a:solidFill>
                  <a:srgbClr val="1A2F5E"/>
                </a:solidFill>
                <a:latin typeface="Calibri" pitchFamily="34" charset="0"/>
                <a:ea typeface="Calibri" pitchFamily="34" charset="-122"/>
                <a:cs typeface="Calibri" pitchFamily="34" charset="-120"/>
              </a:rPr>
              <a:t>Dimension Design</a:t>
            </a:r>
            <a:endParaRPr lang="en-US" sz="1150" dirty="0"/>
          </a:p>
        </p:txBody>
      </p:sp>
      <p:sp>
        <p:nvSpPr>
          <p:cNvPr id="26" name="Text 23"/>
          <p:cNvSpPr/>
          <p:nvPr/>
        </p:nvSpPr>
        <p:spPr>
          <a:xfrm>
            <a:off x="1097280" y="3666744"/>
            <a:ext cx="7406640" cy="256032"/>
          </a:xfrm>
          <a:prstGeom prst="rect">
            <a:avLst/>
          </a:prstGeom>
          <a:noFill/>
          <a:ln/>
        </p:spPr>
        <p:txBody>
          <a:bodyPr wrap="square" lIns="0" tIns="0" rIns="0" bIns="0" rtlCol="0" anchor="ctr"/>
          <a:lstStyle/>
          <a:p>
            <a:pPr marL="0" indent="0">
              <a:buNone/>
            </a:pPr>
            <a:r>
              <a:rPr lang="en-US" sz="1000" dirty="0">
                <a:solidFill>
                  <a:srgbClr val="5A6F8A"/>
                </a:solidFill>
                <a:latin typeface="Calibri" pitchFamily="34" charset="0"/>
                <a:ea typeface="Calibri" pitchFamily="34" charset="-122"/>
                <a:cs typeface="Calibri" pitchFamily="34" charset="-120"/>
              </a:rPr>
              <a:t>Deciding which attributes belong in dimensions vs. fact, and handling slowly changing dimensions.</a:t>
            </a:r>
            <a:endParaRPr lang="en-US" sz="1000" dirty="0"/>
          </a:p>
        </p:txBody>
      </p:sp>
      <p:sp>
        <p:nvSpPr>
          <p:cNvPr id="27" name="Shape 24"/>
          <p:cNvSpPr/>
          <p:nvPr/>
        </p:nvSpPr>
        <p:spPr>
          <a:xfrm>
            <a:off x="411480" y="4059936"/>
            <a:ext cx="8321040" cy="640080"/>
          </a:xfrm>
          <a:prstGeom prst="rect">
            <a:avLst/>
          </a:prstGeom>
          <a:solidFill>
            <a:srgbClr val="FFFFFF"/>
          </a:solidFill>
          <a:ln/>
          <a:effectLst>
            <a:outerShdw blurRad="76200" dist="12700" dir="8100000" algn="bl" rotWithShape="0">
              <a:srgbClr val="000000">
                <a:alpha val="7000"/>
              </a:srgbClr>
            </a:outerShdw>
          </a:effectLst>
        </p:spPr>
      </p:sp>
      <p:sp>
        <p:nvSpPr>
          <p:cNvPr id="28" name="Shape 25"/>
          <p:cNvSpPr/>
          <p:nvPr/>
        </p:nvSpPr>
        <p:spPr>
          <a:xfrm>
            <a:off x="502920" y="4133088"/>
            <a:ext cx="493776" cy="493776"/>
          </a:xfrm>
          <a:prstGeom prst="ellipse">
            <a:avLst/>
          </a:prstGeom>
          <a:solidFill>
            <a:srgbClr val="E8A917"/>
          </a:solidFill>
          <a:ln/>
        </p:spPr>
      </p:sp>
      <p:sp>
        <p:nvSpPr>
          <p:cNvPr id="29" name="Text 26"/>
          <p:cNvSpPr/>
          <p:nvPr/>
        </p:nvSpPr>
        <p:spPr>
          <a:xfrm>
            <a:off x="502920" y="4151376"/>
            <a:ext cx="493776"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0" name="Text 27"/>
          <p:cNvSpPr/>
          <p:nvPr/>
        </p:nvSpPr>
        <p:spPr>
          <a:xfrm>
            <a:off x="1097280" y="4133088"/>
            <a:ext cx="2743200" cy="256032"/>
          </a:xfrm>
          <a:prstGeom prst="rect">
            <a:avLst/>
          </a:prstGeom>
          <a:noFill/>
          <a:ln/>
        </p:spPr>
        <p:txBody>
          <a:bodyPr wrap="square" lIns="0" tIns="0" rIns="0" bIns="0" rtlCol="0" anchor="ctr"/>
          <a:lstStyle/>
          <a:p>
            <a:pPr marL="0" indent="0">
              <a:buNone/>
            </a:pPr>
            <a:r>
              <a:rPr lang="en-US" sz="1150" b="1" dirty="0">
                <a:solidFill>
                  <a:srgbClr val="1A2F5E"/>
                </a:solidFill>
                <a:latin typeface="Calibri" pitchFamily="34" charset="0"/>
                <a:ea typeface="Calibri" pitchFamily="34" charset="-122"/>
                <a:cs typeface="Calibri" pitchFamily="34" charset="-120"/>
              </a:rPr>
              <a:t>Dashboard Integration</a:t>
            </a:r>
            <a:endParaRPr lang="en-US" sz="1150" dirty="0"/>
          </a:p>
        </p:txBody>
      </p:sp>
      <p:sp>
        <p:nvSpPr>
          <p:cNvPr id="31" name="Text 28"/>
          <p:cNvSpPr/>
          <p:nvPr/>
        </p:nvSpPr>
        <p:spPr>
          <a:xfrm>
            <a:off x="1097280" y="4389120"/>
            <a:ext cx="7406640" cy="256032"/>
          </a:xfrm>
          <a:prstGeom prst="rect">
            <a:avLst/>
          </a:prstGeom>
          <a:noFill/>
          <a:ln/>
        </p:spPr>
        <p:txBody>
          <a:bodyPr wrap="square" lIns="0" tIns="0" rIns="0" bIns="0" rtlCol="0" anchor="ctr"/>
          <a:lstStyle/>
          <a:p>
            <a:pPr marL="0" indent="0">
              <a:buNone/>
            </a:pPr>
            <a:r>
              <a:rPr lang="en-US" sz="1000" dirty="0">
                <a:solidFill>
                  <a:srgbClr val="5A6F8A"/>
                </a:solidFill>
                <a:latin typeface="Calibri" pitchFamily="34" charset="0"/>
                <a:ea typeface="Calibri" pitchFamily="34" charset="-122"/>
                <a:cs typeface="Calibri" pitchFamily="34" charset="-120"/>
              </a:rPr>
              <a:t>Connecting the frontend to the warehouse database and making queries efficient enough for real-time display.</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11480" y="274320"/>
            <a:ext cx="64008" cy="685800"/>
          </a:xfrm>
          <a:prstGeom prst="rect">
            <a:avLst/>
          </a:prstGeom>
          <a:solidFill>
            <a:srgbClr val="3A7BD5"/>
          </a:solidFill>
          <a:ln/>
        </p:spPr>
      </p:sp>
      <p:sp>
        <p:nvSpPr>
          <p:cNvPr id="3" name="Text 1"/>
          <p:cNvSpPr/>
          <p:nvPr/>
        </p:nvSpPr>
        <p:spPr>
          <a:xfrm>
            <a:off x="566928" y="256032"/>
            <a:ext cx="7772400" cy="731520"/>
          </a:xfrm>
          <a:prstGeom prst="rect">
            <a:avLst/>
          </a:prstGeom>
          <a:noFill/>
          <a:ln/>
        </p:spPr>
        <p:txBody>
          <a:bodyPr wrap="square" lIns="0" tIns="0" rIns="0" bIns="0" rtlCol="0" anchor="ctr"/>
          <a:lstStyle/>
          <a:p>
            <a:pPr marL="0" indent="0">
              <a:buNone/>
            </a:pPr>
            <a:r>
              <a:rPr lang="en-US" sz="2600" b="1" dirty="0">
                <a:solidFill>
                  <a:srgbClr val="1A2F5E"/>
                </a:solidFill>
                <a:latin typeface="Calibri" pitchFamily="34" charset="0"/>
                <a:ea typeface="Calibri" pitchFamily="34" charset="-122"/>
                <a:cs typeface="Calibri" pitchFamily="34" charset="-120"/>
              </a:rPr>
              <a:t>Conclusion</a:t>
            </a:r>
            <a:endParaRPr lang="en-US" sz="2600" dirty="0"/>
          </a:p>
        </p:txBody>
      </p:sp>
      <p:pic>
        <p:nvPicPr>
          <p:cNvPr id="4" name="Image 0" descr="preencoded.png"/>
          <p:cNvPicPr>
            <a:picLocks noChangeAspect="1"/>
          </p:cNvPicPr>
          <p:nvPr/>
        </p:nvPicPr>
        <p:blipFill>
          <a:blip r:embed="rId3"/>
          <a:stretch>
            <a:fillRect/>
          </a:stretch>
        </p:blipFill>
        <p:spPr>
          <a:xfrm>
            <a:off x="8321040" y="201168"/>
            <a:ext cx="502920" cy="502920"/>
          </a:xfrm>
          <a:prstGeom prst="rect">
            <a:avLst/>
          </a:prstGeom>
        </p:spPr>
      </p:pic>
      <p:sp>
        <p:nvSpPr>
          <p:cNvPr id="5" name="Shape 2"/>
          <p:cNvSpPr/>
          <p:nvPr/>
        </p:nvSpPr>
        <p:spPr>
          <a:xfrm>
            <a:off x="411480" y="1033272"/>
            <a:ext cx="8321040" cy="16459"/>
          </a:xfrm>
          <a:prstGeom prst="rect">
            <a:avLst/>
          </a:prstGeom>
          <a:solidFill>
            <a:srgbClr val="E8EEF6"/>
          </a:solidFill>
          <a:ln/>
        </p:spPr>
      </p:sp>
      <p:sp>
        <p:nvSpPr>
          <p:cNvPr id="6" name="Text 3"/>
          <p:cNvSpPr/>
          <p:nvPr/>
        </p:nvSpPr>
        <p:spPr>
          <a:xfrm>
            <a:off x="8046720" y="4754880"/>
            <a:ext cx="822960" cy="228600"/>
          </a:xfrm>
          <a:prstGeom prst="rect">
            <a:avLst/>
          </a:prstGeom>
          <a:noFill/>
          <a:ln/>
        </p:spPr>
        <p:txBody>
          <a:bodyPr wrap="square" lIns="0" tIns="0" rIns="0" bIns="0" rtlCol="0" anchor="ctr"/>
          <a:lstStyle/>
          <a:p>
            <a:pPr marL="0" indent="0" algn="r">
              <a:buNone/>
            </a:pPr>
            <a:r>
              <a:rPr lang="en-US" sz="900" dirty="0">
                <a:solidFill>
                  <a:srgbClr val="8A9BB5"/>
                </a:solidFill>
              </a:rPr>
              <a:t>10 / 11</a:t>
            </a:r>
            <a:endParaRPr lang="en-US" sz="900" dirty="0"/>
          </a:p>
        </p:txBody>
      </p:sp>
      <p:sp>
        <p:nvSpPr>
          <p:cNvPr id="7" name="Shape 4"/>
          <p:cNvSpPr/>
          <p:nvPr/>
        </p:nvSpPr>
        <p:spPr>
          <a:xfrm>
            <a:off x="502920" y="1234440"/>
            <a:ext cx="1874520" cy="1508760"/>
          </a:xfrm>
          <a:prstGeom prst="rect">
            <a:avLst/>
          </a:prstGeom>
          <a:solidFill>
            <a:srgbClr val="1A2F5E"/>
          </a:solidFill>
          <a:ln/>
          <a:effectLst>
            <a:outerShdw blurRad="101600" dist="25400" dir="8100000" algn="bl" rotWithShape="0">
              <a:srgbClr val="000000">
                <a:alpha val="15000"/>
              </a:srgbClr>
            </a:outerShdw>
          </a:effectLst>
        </p:spPr>
      </p:sp>
      <p:pic>
        <p:nvPicPr>
          <p:cNvPr id="8" name="Image 1" descr="preencoded.png"/>
          <p:cNvPicPr>
            <a:picLocks noChangeAspect="1"/>
          </p:cNvPicPr>
          <p:nvPr/>
        </p:nvPicPr>
        <p:blipFill>
          <a:blip r:embed="rId4"/>
          <a:stretch>
            <a:fillRect/>
          </a:stretch>
        </p:blipFill>
        <p:spPr>
          <a:xfrm>
            <a:off x="1170432" y="1417320"/>
            <a:ext cx="548640" cy="548640"/>
          </a:xfrm>
          <a:prstGeom prst="rect">
            <a:avLst/>
          </a:prstGeom>
        </p:spPr>
      </p:pic>
      <p:sp>
        <p:nvSpPr>
          <p:cNvPr id="9" name="Text 5"/>
          <p:cNvSpPr/>
          <p:nvPr/>
        </p:nvSpPr>
        <p:spPr>
          <a:xfrm>
            <a:off x="576072" y="2039112"/>
            <a:ext cx="1719072"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OLTP</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Database</a:t>
            </a:r>
            <a:endParaRPr lang="en-US" sz="1100" dirty="0"/>
          </a:p>
        </p:txBody>
      </p:sp>
      <p:sp>
        <p:nvSpPr>
          <p:cNvPr id="10" name="Text 6"/>
          <p:cNvSpPr/>
          <p:nvPr/>
        </p:nvSpPr>
        <p:spPr>
          <a:xfrm>
            <a:off x="576072" y="2532888"/>
            <a:ext cx="1719072" cy="182880"/>
          </a:xfrm>
          <a:prstGeom prst="rect">
            <a:avLst/>
          </a:prstGeom>
          <a:noFill/>
          <a:ln/>
        </p:spPr>
        <p:txBody>
          <a:bodyPr wrap="square" lIns="0" tIns="0" rIns="0" bIns="0" rtlCol="0" anchor="ctr"/>
          <a:lstStyle/>
          <a:p>
            <a:pPr marL="0" indent="0" algn="ctr">
              <a:buNone/>
            </a:pPr>
            <a:r>
              <a:rPr lang="en-US" sz="800" dirty="0">
                <a:solidFill>
                  <a:srgbClr val="CADCFF"/>
                </a:solidFill>
                <a:latin typeface="Calibri" pitchFamily="34" charset="0"/>
                <a:ea typeface="Calibri" pitchFamily="34" charset="-122"/>
                <a:cs typeface="Calibri" pitchFamily="34" charset="-120"/>
              </a:rPr>
              <a:t>Sakila-like source</a:t>
            </a:r>
            <a:endParaRPr lang="en-US" sz="800" dirty="0"/>
          </a:p>
        </p:txBody>
      </p:sp>
      <p:sp>
        <p:nvSpPr>
          <p:cNvPr id="11" name="Shape 7"/>
          <p:cNvSpPr/>
          <p:nvPr/>
        </p:nvSpPr>
        <p:spPr>
          <a:xfrm>
            <a:off x="2423160" y="1737360"/>
            <a:ext cx="182880" cy="182880"/>
          </a:xfrm>
          <a:prstGeom prst="ellipse">
            <a:avLst/>
          </a:prstGeom>
          <a:solidFill>
            <a:srgbClr val="E8A917"/>
          </a:solidFill>
          <a:ln/>
        </p:spPr>
      </p:sp>
      <p:sp>
        <p:nvSpPr>
          <p:cNvPr id="12" name="Text 8"/>
          <p:cNvSpPr/>
          <p:nvPr/>
        </p:nvSpPr>
        <p:spPr>
          <a:xfrm>
            <a:off x="2414016" y="1691640"/>
            <a:ext cx="201168" cy="274320"/>
          </a:xfrm>
          <a:prstGeom prst="rect">
            <a:avLst/>
          </a:prstGeom>
          <a:noFill/>
          <a:ln/>
        </p:spPr>
        <p:txBody>
          <a:bodyPr wrap="square" lIns="0" tIns="0" rIns="0" bIns="0" rtlCol="0" anchor="ctr"/>
          <a:lstStyle/>
          <a:p>
            <a:pPr marL="0" indent="0" algn="ctr">
              <a:buNone/>
            </a:pPr>
            <a:r>
              <a:rPr lang="en-US" sz="1200" dirty="0">
                <a:solidFill>
                  <a:srgbClr val="E8A917"/>
                </a:solidFill>
              </a:rPr>
              <a:t>→</a:t>
            </a:r>
            <a:endParaRPr lang="en-US" sz="1200" dirty="0"/>
          </a:p>
        </p:txBody>
      </p:sp>
      <p:sp>
        <p:nvSpPr>
          <p:cNvPr id="13" name="Shape 9"/>
          <p:cNvSpPr/>
          <p:nvPr/>
        </p:nvSpPr>
        <p:spPr>
          <a:xfrm>
            <a:off x="2651760" y="1234440"/>
            <a:ext cx="1874520" cy="1508760"/>
          </a:xfrm>
          <a:prstGeom prst="rect">
            <a:avLst/>
          </a:prstGeom>
          <a:solidFill>
            <a:srgbClr val="4A6FA5"/>
          </a:solidFill>
          <a:ln/>
          <a:effectLst>
            <a:outerShdw blurRad="101600" dist="25400" dir="8100000" algn="bl" rotWithShape="0">
              <a:srgbClr val="000000">
                <a:alpha val="15000"/>
              </a:srgbClr>
            </a:outerShdw>
          </a:effectLst>
        </p:spPr>
      </p:sp>
      <p:pic>
        <p:nvPicPr>
          <p:cNvPr id="14" name="Image 2" descr="preencoded.png"/>
          <p:cNvPicPr>
            <a:picLocks noChangeAspect="1"/>
          </p:cNvPicPr>
          <p:nvPr/>
        </p:nvPicPr>
        <p:blipFill>
          <a:blip r:embed="rId5"/>
          <a:stretch>
            <a:fillRect/>
          </a:stretch>
        </p:blipFill>
        <p:spPr>
          <a:xfrm>
            <a:off x="3319272" y="1417320"/>
            <a:ext cx="548640" cy="548640"/>
          </a:xfrm>
          <a:prstGeom prst="rect">
            <a:avLst/>
          </a:prstGeom>
        </p:spPr>
      </p:pic>
      <p:sp>
        <p:nvSpPr>
          <p:cNvPr id="15" name="Text 10"/>
          <p:cNvSpPr/>
          <p:nvPr/>
        </p:nvSpPr>
        <p:spPr>
          <a:xfrm>
            <a:off x="2724912" y="2039112"/>
            <a:ext cx="1719072"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ETL</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Process</a:t>
            </a:r>
            <a:endParaRPr lang="en-US" sz="1100" dirty="0"/>
          </a:p>
        </p:txBody>
      </p:sp>
      <p:sp>
        <p:nvSpPr>
          <p:cNvPr id="16" name="Text 11"/>
          <p:cNvSpPr/>
          <p:nvPr/>
        </p:nvSpPr>
        <p:spPr>
          <a:xfrm>
            <a:off x="2724912" y="2532888"/>
            <a:ext cx="1719072" cy="182880"/>
          </a:xfrm>
          <a:prstGeom prst="rect">
            <a:avLst/>
          </a:prstGeom>
          <a:noFill/>
          <a:ln/>
        </p:spPr>
        <p:txBody>
          <a:bodyPr wrap="square" lIns="0" tIns="0" rIns="0" bIns="0" rtlCol="0" anchor="ctr"/>
          <a:lstStyle/>
          <a:p>
            <a:pPr marL="0" indent="0" algn="ctr">
              <a:buNone/>
            </a:pPr>
            <a:r>
              <a:rPr lang="en-US" sz="800" dirty="0">
                <a:solidFill>
                  <a:srgbClr val="CADCFF"/>
                </a:solidFill>
                <a:latin typeface="Calibri" pitchFamily="34" charset="0"/>
                <a:ea typeface="Calibri" pitchFamily="34" charset="-122"/>
                <a:cs typeface="Calibri" pitchFamily="34" charset="-120"/>
              </a:rPr>
              <a:t>Extract · Transform · Load</a:t>
            </a:r>
            <a:endParaRPr lang="en-US" sz="800" dirty="0"/>
          </a:p>
        </p:txBody>
      </p:sp>
      <p:sp>
        <p:nvSpPr>
          <p:cNvPr id="17" name="Shape 12"/>
          <p:cNvSpPr/>
          <p:nvPr/>
        </p:nvSpPr>
        <p:spPr>
          <a:xfrm>
            <a:off x="4572000" y="1737360"/>
            <a:ext cx="182880" cy="182880"/>
          </a:xfrm>
          <a:prstGeom prst="ellipse">
            <a:avLst/>
          </a:prstGeom>
          <a:solidFill>
            <a:srgbClr val="E8A917"/>
          </a:solidFill>
          <a:ln/>
        </p:spPr>
      </p:sp>
      <p:sp>
        <p:nvSpPr>
          <p:cNvPr id="18" name="Text 13"/>
          <p:cNvSpPr/>
          <p:nvPr/>
        </p:nvSpPr>
        <p:spPr>
          <a:xfrm>
            <a:off x="4562856" y="1691640"/>
            <a:ext cx="201168" cy="274320"/>
          </a:xfrm>
          <a:prstGeom prst="rect">
            <a:avLst/>
          </a:prstGeom>
          <a:noFill/>
          <a:ln/>
        </p:spPr>
        <p:txBody>
          <a:bodyPr wrap="square" lIns="0" tIns="0" rIns="0" bIns="0" rtlCol="0" anchor="ctr"/>
          <a:lstStyle/>
          <a:p>
            <a:pPr marL="0" indent="0" algn="ctr">
              <a:buNone/>
            </a:pPr>
            <a:r>
              <a:rPr lang="en-US" sz="1200" dirty="0">
                <a:solidFill>
                  <a:srgbClr val="E8A917"/>
                </a:solidFill>
              </a:rPr>
              <a:t>→</a:t>
            </a:r>
            <a:endParaRPr lang="en-US" sz="1200" dirty="0"/>
          </a:p>
        </p:txBody>
      </p:sp>
      <p:sp>
        <p:nvSpPr>
          <p:cNvPr id="19" name="Shape 14"/>
          <p:cNvSpPr/>
          <p:nvPr/>
        </p:nvSpPr>
        <p:spPr>
          <a:xfrm>
            <a:off x="4800600" y="1234440"/>
            <a:ext cx="1874520" cy="1508760"/>
          </a:xfrm>
          <a:prstGeom prst="rect">
            <a:avLst/>
          </a:prstGeom>
          <a:solidFill>
            <a:srgbClr val="3A7BD5"/>
          </a:solidFill>
          <a:ln/>
          <a:effectLst>
            <a:outerShdw blurRad="101600" dist="25400" dir="8100000" algn="bl" rotWithShape="0">
              <a:srgbClr val="000000">
                <a:alpha val="15000"/>
              </a:srgbClr>
            </a:outerShdw>
          </a:effectLst>
        </p:spPr>
      </p:sp>
      <p:pic>
        <p:nvPicPr>
          <p:cNvPr id="20" name="Image 3" descr="preencoded.png"/>
          <p:cNvPicPr>
            <a:picLocks noChangeAspect="1"/>
          </p:cNvPicPr>
          <p:nvPr/>
        </p:nvPicPr>
        <p:blipFill>
          <a:blip r:embed="rId6"/>
          <a:stretch>
            <a:fillRect/>
          </a:stretch>
        </p:blipFill>
        <p:spPr>
          <a:xfrm>
            <a:off x="5468112" y="1417320"/>
            <a:ext cx="548640" cy="548640"/>
          </a:xfrm>
          <a:prstGeom prst="rect">
            <a:avLst/>
          </a:prstGeom>
        </p:spPr>
      </p:pic>
      <p:sp>
        <p:nvSpPr>
          <p:cNvPr id="21" name="Text 15"/>
          <p:cNvSpPr/>
          <p:nvPr/>
        </p:nvSpPr>
        <p:spPr>
          <a:xfrm>
            <a:off x="4873752" y="2039112"/>
            <a:ext cx="1719072"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Data</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Warehouse</a:t>
            </a:r>
            <a:endParaRPr lang="en-US" sz="1100" dirty="0"/>
          </a:p>
        </p:txBody>
      </p:sp>
      <p:sp>
        <p:nvSpPr>
          <p:cNvPr id="22" name="Text 16"/>
          <p:cNvSpPr/>
          <p:nvPr/>
        </p:nvSpPr>
        <p:spPr>
          <a:xfrm>
            <a:off x="4873752" y="2532888"/>
            <a:ext cx="1719072" cy="182880"/>
          </a:xfrm>
          <a:prstGeom prst="rect">
            <a:avLst/>
          </a:prstGeom>
          <a:noFill/>
          <a:ln/>
        </p:spPr>
        <p:txBody>
          <a:bodyPr wrap="square" lIns="0" tIns="0" rIns="0" bIns="0" rtlCol="0" anchor="ctr"/>
          <a:lstStyle/>
          <a:p>
            <a:pPr marL="0" indent="0" algn="ctr">
              <a:buNone/>
            </a:pPr>
            <a:r>
              <a:rPr lang="en-US" sz="800" dirty="0">
                <a:solidFill>
                  <a:srgbClr val="CADCFF"/>
                </a:solidFill>
                <a:latin typeface="Calibri" pitchFamily="34" charset="0"/>
                <a:ea typeface="Calibri" pitchFamily="34" charset="-122"/>
                <a:cs typeface="Calibri" pitchFamily="34" charset="-120"/>
              </a:rPr>
              <a:t>Star Schema model</a:t>
            </a:r>
            <a:endParaRPr lang="en-US" sz="800" dirty="0"/>
          </a:p>
        </p:txBody>
      </p:sp>
      <p:sp>
        <p:nvSpPr>
          <p:cNvPr id="23" name="Shape 17"/>
          <p:cNvSpPr/>
          <p:nvPr/>
        </p:nvSpPr>
        <p:spPr>
          <a:xfrm>
            <a:off x="6720840" y="1737360"/>
            <a:ext cx="182880" cy="182880"/>
          </a:xfrm>
          <a:prstGeom prst="ellipse">
            <a:avLst/>
          </a:prstGeom>
          <a:solidFill>
            <a:srgbClr val="E8A917"/>
          </a:solidFill>
          <a:ln/>
        </p:spPr>
      </p:sp>
      <p:sp>
        <p:nvSpPr>
          <p:cNvPr id="24" name="Text 18"/>
          <p:cNvSpPr/>
          <p:nvPr/>
        </p:nvSpPr>
        <p:spPr>
          <a:xfrm>
            <a:off x="6711696" y="1691640"/>
            <a:ext cx="201168" cy="274320"/>
          </a:xfrm>
          <a:prstGeom prst="rect">
            <a:avLst/>
          </a:prstGeom>
          <a:noFill/>
          <a:ln/>
        </p:spPr>
        <p:txBody>
          <a:bodyPr wrap="square" lIns="0" tIns="0" rIns="0" bIns="0" rtlCol="0" anchor="ctr"/>
          <a:lstStyle/>
          <a:p>
            <a:pPr marL="0" indent="0" algn="ctr">
              <a:buNone/>
            </a:pPr>
            <a:r>
              <a:rPr lang="en-US" sz="1200" dirty="0">
                <a:solidFill>
                  <a:srgbClr val="E8A917"/>
                </a:solidFill>
              </a:rPr>
              <a:t>→</a:t>
            </a:r>
            <a:endParaRPr lang="en-US" sz="1200" dirty="0"/>
          </a:p>
        </p:txBody>
      </p:sp>
      <p:sp>
        <p:nvSpPr>
          <p:cNvPr id="25" name="Shape 19"/>
          <p:cNvSpPr/>
          <p:nvPr/>
        </p:nvSpPr>
        <p:spPr>
          <a:xfrm>
            <a:off x="6949440" y="1234440"/>
            <a:ext cx="1874520" cy="1508760"/>
          </a:xfrm>
          <a:prstGeom prst="rect">
            <a:avLst/>
          </a:prstGeom>
          <a:solidFill>
            <a:srgbClr val="1A7A9A"/>
          </a:solidFill>
          <a:ln/>
          <a:effectLst>
            <a:outerShdw blurRad="101600" dist="25400" dir="8100000" algn="bl" rotWithShape="0">
              <a:srgbClr val="000000">
                <a:alpha val="15000"/>
              </a:srgbClr>
            </a:outerShdw>
          </a:effectLst>
        </p:spPr>
      </p:sp>
      <p:pic>
        <p:nvPicPr>
          <p:cNvPr id="26" name="Image 4" descr="preencoded.png"/>
          <p:cNvPicPr>
            <a:picLocks noChangeAspect="1"/>
          </p:cNvPicPr>
          <p:nvPr/>
        </p:nvPicPr>
        <p:blipFill>
          <a:blip r:embed="rId7"/>
          <a:stretch>
            <a:fillRect/>
          </a:stretch>
        </p:blipFill>
        <p:spPr>
          <a:xfrm>
            <a:off x="7616952" y="1417320"/>
            <a:ext cx="548640" cy="548640"/>
          </a:xfrm>
          <a:prstGeom prst="rect">
            <a:avLst/>
          </a:prstGeom>
        </p:spPr>
      </p:pic>
      <p:sp>
        <p:nvSpPr>
          <p:cNvPr id="27" name="Text 20"/>
          <p:cNvSpPr/>
          <p:nvPr/>
        </p:nvSpPr>
        <p:spPr>
          <a:xfrm>
            <a:off x="7022592" y="2039112"/>
            <a:ext cx="1719072"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Dashboard</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&amp; Analysis</a:t>
            </a:r>
            <a:endParaRPr lang="en-US" sz="1100" dirty="0"/>
          </a:p>
        </p:txBody>
      </p:sp>
      <p:sp>
        <p:nvSpPr>
          <p:cNvPr id="28" name="Text 21"/>
          <p:cNvSpPr/>
          <p:nvPr/>
        </p:nvSpPr>
        <p:spPr>
          <a:xfrm>
            <a:off x="7022592" y="2532888"/>
            <a:ext cx="1719072" cy="182880"/>
          </a:xfrm>
          <a:prstGeom prst="rect">
            <a:avLst/>
          </a:prstGeom>
          <a:noFill/>
          <a:ln/>
        </p:spPr>
        <p:txBody>
          <a:bodyPr wrap="square" lIns="0" tIns="0" rIns="0" bIns="0" rtlCol="0" anchor="ctr"/>
          <a:lstStyle/>
          <a:p>
            <a:pPr marL="0" indent="0" algn="ctr">
              <a:buNone/>
            </a:pPr>
            <a:r>
              <a:rPr lang="en-US" sz="800" dirty="0">
                <a:solidFill>
                  <a:srgbClr val="CADCFF"/>
                </a:solidFill>
                <a:latin typeface="Calibri" pitchFamily="34" charset="0"/>
                <a:ea typeface="Calibri" pitchFamily="34" charset="-122"/>
                <a:cs typeface="Calibri" pitchFamily="34" charset="-120"/>
              </a:rPr>
              <a:t>Visual insights</a:t>
            </a:r>
            <a:endParaRPr lang="en-US" sz="800" dirty="0"/>
          </a:p>
        </p:txBody>
      </p:sp>
      <p:sp>
        <p:nvSpPr>
          <p:cNvPr id="29" name="Text 22"/>
          <p:cNvSpPr/>
          <p:nvPr/>
        </p:nvSpPr>
        <p:spPr>
          <a:xfrm>
            <a:off x="502920" y="3017520"/>
            <a:ext cx="8183880" cy="1508760"/>
          </a:xfrm>
          <a:prstGeom prst="rect">
            <a:avLst/>
          </a:prstGeom>
          <a:noFill/>
          <a:ln/>
        </p:spPr>
        <p:txBody>
          <a:bodyPr wrap="square" lIns="0" tIns="0" rIns="0" bIns="0" rtlCol="0" anchor="t"/>
          <a:lstStyle/>
          <a:p>
            <a:pPr marL="152400" indent="-152400">
              <a:spcAft>
                <a:spcPts val="700"/>
              </a:spcAft>
              <a:buSzPct val="100000"/>
              <a:buChar char="•"/>
            </a:pPr>
            <a:r>
              <a:rPr lang="en-US" sz="1200" dirty="0"/>
              <a:t>Successfully designed a Hybrid Star/Snowflake dimensional model with 2 fact tables, 5 core dimension tables, 3 sub-dimension tables, and 1 bridge table.</a:t>
            </a:r>
          </a:p>
          <a:p>
            <a:pPr marL="152400" indent="-152400">
              <a:spcAft>
                <a:spcPts val="700"/>
              </a:spcAft>
              <a:buSzPct val="100000"/>
              <a:buChar char="•"/>
            </a:pPr>
            <a:r>
              <a:rPr lang="en-US" sz="1200" dirty="0">
                <a:solidFill>
                  <a:srgbClr val="1C2B4A"/>
                </a:solidFill>
                <a:latin typeface="Calibri" pitchFamily="34" charset="0"/>
                <a:ea typeface="Calibri" pitchFamily="34" charset="-122"/>
                <a:cs typeface="Calibri" pitchFamily="34" charset="-120"/>
              </a:rPr>
              <a:t>Implemented a complete ETL pipeline to transform Sakila OLTP data into the warehouse</a:t>
            </a:r>
            <a:endParaRPr lang="en-US" sz="1200" dirty="0"/>
          </a:p>
          <a:p>
            <a:pPr marL="152400" indent="-152400">
              <a:spcAft>
                <a:spcPts val="700"/>
              </a:spcAft>
              <a:buSzPct val="100000"/>
              <a:buChar char="•"/>
            </a:pPr>
            <a:r>
              <a:rPr lang="en-US" sz="1200" dirty="0">
                <a:solidFill>
                  <a:srgbClr val="1C2B4A"/>
                </a:solidFill>
                <a:latin typeface="Calibri" pitchFamily="34" charset="0"/>
                <a:ea typeface="Calibri" pitchFamily="34" charset="-122"/>
                <a:cs typeface="Calibri" pitchFamily="34" charset="-120"/>
              </a:rPr>
              <a:t>Built an analytical dashboard answering 6 key business questions for movie rental management</a:t>
            </a:r>
            <a:endParaRPr lang="en-US" sz="1200" dirty="0"/>
          </a:p>
          <a:p>
            <a:pPr marL="152400" indent="-152400">
              <a:spcAft>
                <a:spcPts val="700"/>
              </a:spcAft>
              <a:buSzPct val="100000"/>
              <a:buChar char="•"/>
            </a:pPr>
            <a:r>
              <a:rPr lang="en-US" sz="1200" dirty="0">
                <a:solidFill>
                  <a:srgbClr val="1C2B4A"/>
                </a:solidFill>
                <a:latin typeface="Calibri" pitchFamily="34" charset="0"/>
                <a:ea typeface="Calibri" pitchFamily="34" charset="-122"/>
                <a:cs typeface="Calibri" pitchFamily="34" charset="-120"/>
              </a:rPr>
              <a:t>The project demonstrates a complete, real-world Business Intelligence workflow</a:t>
            </a:r>
            <a:endParaRPr lang="en-US" sz="1200" dirty="0"/>
          </a:p>
        </p:txBody>
      </p:sp>
      <p:sp>
        <p:nvSpPr>
          <p:cNvPr id="30" name="Shape 23"/>
          <p:cNvSpPr/>
          <p:nvPr/>
        </p:nvSpPr>
        <p:spPr>
          <a:xfrm>
            <a:off x="411480" y="4663440"/>
            <a:ext cx="8321040" cy="347472"/>
          </a:xfrm>
          <a:prstGeom prst="rect">
            <a:avLst/>
          </a:prstGeom>
          <a:solidFill>
            <a:srgbClr val="1A2F5E"/>
          </a:solidFill>
          <a:ln/>
        </p:spPr>
      </p:sp>
      <p:sp>
        <p:nvSpPr>
          <p:cNvPr id="31" name="Text 24"/>
          <p:cNvSpPr/>
          <p:nvPr/>
        </p:nvSpPr>
        <p:spPr>
          <a:xfrm>
            <a:off x="502920" y="4681728"/>
            <a:ext cx="8138160" cy="310896"/>
          </a:xfrm>
          <a:prstGeom prst="rect">
            <a:avLst/>
          </a:prstGeom>
          <a:noFill/>
          <a:ln/>
        </p:spPr>
        <p:txBody>
          <a:bodyPr wrap="square" lIns="0" tIns="0" rIns="0" bIns="0" rtlCol="0" anchor="ctr"/>
          <a:lstStyle/>
          <a:p>
            <a:pPr marL="0" indent="0" algn="ctr">
              <a:buNone/>
            </a:pPr>
            <a:r>
              <a:rPr lang="en-US" sz="1100" b="1" dirty="0">
                <a:solidFill>
                  <a:srgbClr val="C9DEFF"/>
                </a:solidFill>
                <a:latin typeface="Calibri" pitchFamily="34" charset="0"/>
                <a:ea typeface="Calibri" pitchFamily="34" charset="-122"/>
                <a:cs typeface="Calibri" pitchFamily="34" charset="-120"/>
              </a:rPr>
              <a:t>Thank you for your attention  —  Ready for questions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TotalTime>
  <Words>2480</Words>
  <Application>Microsoft Office PowerPoint</Application>
  <PresentationFormat>On-screen Show (16:9)</PresentationFormat>
  <Paragraphs>167</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Movie Rental Data Warehouse</dc:title>
  <dc:subject>PptxGenJS Presentation</dc:subject>
  <dc:creator>University Project</dc:creator>
  <cp:lastModifiedBy>abood abood</cp:lastModifiedBy>
  <cp:revision>2</cp:revision>
  <dcterms:created xsi:type="dcterms:W3CDTF">2026-05-24T00:00:08Z</dcterms:created>
  <dcterms:modified xsi:type="dcterms:W3CDTF">2026-05-24T08:53:23Z</dcterms:modified>
</cp:coreProperties>
</file>